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25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83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33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7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7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54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65212" y="3245556"/>
            <a:ext cx="1620738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971676" y="3245556"/>
            <a:ext cx="1620739" cy="773571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880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2" y="649114"/>
            <a:ext cx="5915025" cy="235655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4" y="4453467"/>
            <a:ext cx="2915543" cy="65503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45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808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39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52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31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855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761060" y="649111"/>
            <a:ext cx="831354" cy="1033215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65212" y="649111"/>
            <a:ext cx="2410122" cy="1033215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03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07553-ED81-419D-9521-6D2E410B584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D3990-64C1-43FF-8A4F-45C4025FE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03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57200" y="3924300"/>
            <a:ext cx="952500" cy="209550"/>
          </a:xfrm>
          <a:prstGeom prst="rect">
            <a:avLst/>
          </a:prstGeom>
          <a:solidFill>
            <a:srgbClr val="B26E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" name="TextBox 2"/>
          <p:cNvSpPr txBox="1"/>
          <p:nvPr/>
        </p:nvSpPr>
        <p:spPr>
          <a:xfrm>
            <a:off x="552450" y="3943350"/>
            <a:ext cx="123825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ko-KR" sz="750" b="1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HYUNDAI MOTOR COMPANY</a:t>
            </a:r>
            <a:endParaRPr lang="ko-KR" altLang="en-US" sz="750" b="1">
              <a:solidFill>
                <a:srgbClr val="FFFDF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6250" y="4572000"/>
            <a:ext cx="352425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1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중심</a:t>
            </a:r>
          </a:p>
          <a:p>
            <a:r>
              <a:rPr lang="en-US" altLang="ko-KR" sz="21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sz="21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개발자 포트폴리오</a:t>
            </a:r>
            <a:endParaRPr lang="ko-KR" altLang="en-US" sz="210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5300" y="5476875"/>
            <a:ext cx="3524250" cy="4385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25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대규모 연계</a:t>
            </a:r>
            <a:r>
              <a:rPr lang="en-US" altLang="ko-KR" sz="1125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25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 안정화</a:t>
            </a:r>
            <a:r>
              <a:rPr lang="en-US" altLang="ko-KR" sz="1125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25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품질 개선 경험을 중심으로 정리한 제출용 포트폴리오</a:t>
            </a:r>
            <a:endParaRPr lang="ko-KR" altLang="en-US" sz="1125">
              <a:solidFill>
                <a:srgbClr val="5A606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495300" y="6134100"/>
            <a:ext cx="2838450" cy="0"/>
          </a:xfrm>
          <a:prstGeom prst="line">
            <a:avLst/>
          </a:prstGeom>
          <a:ln>
            <a:solidFill>
              <a:srgbClr val="DCD5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6250" y="6343650"/>
            <a:ext cx="3238500" cy="9579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설계부터 개발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품질 대응까지 수행한 실무 경험</a:t>
            </a:r>
          </a:p>
          <a:p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대용량 처리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비동기 구조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자동화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장애 대응 중심 성과</a:t>
            </a:r>
          </a:p>
          <a:p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공공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보안</a:t>
            </a:r>
            <a:r>
              <a:rPr lang="en-US" altLang="ko-KR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2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 시스템 경험 보유</a:t>
            </a:r>
            <a:endParaRPr lang="ko-KR" altLang="en-US" sz="112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75" y="4362450"/>
            <a:ext cx="19050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300" y="7981950"/>
            <a:ext cx="3619500" cy="2077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지원 포지션</a:t>
            </a:r>
            <a:r>
              <a:rPr lang="en-US" altLang="ko-KR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</a:t>
            </a:r>
            <a:r>
              <a:rPr lang="en-US" altLang="ko-KR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개발</a:t>
            </a:r>
            <a:r>
              <a:rPr lang="en-US" altLang="ko-KR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플랫폼 개발</a:t>
            </a:r>
            <a:r>
              <a:rPr lang="en-US" altLang="ko-KR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</a:t>
            </a:r>
            <a:r>
              <a:rPr lang="en-US" altLang="ko-KR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5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 고도화 조직</a:t>
            </a:r>
            <a:endParaRPr lang="ko-KR" altLang="en-US" sz="750">
              <a:solidFill>
                <a:srgbClr val="5A606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512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50" y="3952875"/>
            <a:ext cx="2667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01 </a:t>
            </a:r>
            <a:r>
              <a:rPr lang="ko-KR" altLang="en-US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왜 현대자동차에 적합한가</a:t>
            </a:r>
            <a:endParaRPr lang="ko-KR" altLang="en-US" sz="165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76250" y="4305300"/>
            <a:ext cx="5905500" cy="0"/>
          </a:xfrm>
          <a:prstGeom prst="line">
            <a:avLst/>
          </a:prstGeom>
          <a:ln>
            <a:solidFill>
              <a:srgbClr val="DCD5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76250" y="4591050"/>
            <a:ext cx="1809750" cy="1200150"/>
          </a:xfrm>
          <a:prstGeom prst="rect">
            <a:avLst/>
          </a:prstGeom>
          <a:solidFill>
            <a:srgbClr val="F7F4EF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5" name="직사각형 4"/>
          <p:cNvSpPr/>
          <p:nvPr/>
        </p:nvSpPr>
        <p:spPr>
          <a:xfrm>
            <a:off x="2524125" y="4591050"/>
            <a:ext cx="1809750" cy="1200150"/>
          </a:xfrm>
          <a:prstGeom prst="rect">
            <a:avLst/>
          </a:prstGeom>
          <a:solidFill>
            <a:srgbClr val="F7F4EF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직사각형 5"/>
          <p:cNvSpPr/>
          <p:nvPr/>
        </p:nvSpPr>
        <p:spPr>
          <a:xfrm>
            <a:off x="4572000" y="4591050"/>
            <a:ext cx="1809750" cy="1200150"/>
          </a:xfrm>
          <a:prstGeom prst="rect">
            <a:avLst/>
          </a:prstGeom>
          <a:solidFill>
            <a:srgbClr val="F7F4EF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/>
        </p:nvSpPr>
        <p:spPr>
          <a:xfrm>
            <a:off x="666750" y="4781550"/>
            <a:ext cx="1143000" cy="4385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25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대규모 시스템 적합성</a:t>
            </a:r>
            <a:endParaRPr lang="ko-KR" altLang="en-US" sz="1125" b="1">
              <a:solidFill>
                <a:srgbClr val="B26E4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6750" y="5067300"/>
            <a:ext cx="1333500" cy="5424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 솔루션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 인프라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공공 시스템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14625" y="4781550"/>
            <a:ext cx="1143000" cy="26545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25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품질과 안정성</a:t>
            </a:r>
            <a:endParaRPr lang="ko-KR" altLang="en-US" sz="1125" b="1">
              <a:solidFill>
                <a:srgbClr val="B26E4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14625" y="5067300"/>
            <a:ext cx="1333500" cy="5424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QA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메인 담당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장애 개선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검증 자동화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62500" y="4781550"/>
            <a:ext cx="1143000" cy="4385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25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lang="en-US" altLang="ko-KR" sz="1125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25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친화성</a:t>
            </a:r>
            <a:endParaRPr lang="ko-KR" altLang="en-US" sz="1125" b="1">
              <a:solidFill>
                <a:srgbClr val="B26E4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62500" y="5067300"/>
            <a:ext cx="1428750" cy="5424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철강 제조 </a:t>
            </a:r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 이슈 대응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협업 중심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6250" y="6191250"/>
            <a:ext cx="571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5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현대자동차에 어필해야 할 핵심은 “기술 스택”보다 “복잡한 현업 시스템을 안정적으로 개선해 본 사람인가” 입니다</a:t>
            </a:r>
            <a:r>
              <a:rPr lang="en-US" altLang="ko-KR" sz="15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6250" y="6858001"/>
            <a:ext cx="5715000" cy="12695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저는 새로운 기능 개발뿐 아니라 운영 중인 시스템의 구조적 문제를 진단하고 개선한 경험이 있습니다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대규모 서비스의 품질과 릴리즈 안정성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자동화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장애 대응까지 연결해서 설명할 수 있습니다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초기 경력부터 제조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공공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보안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 시스템을 경험해 업무 도메인 적응 속도가 빠릅니다</a:t>
            </a:r>
            <a:r>
              <a:rPr lang="en-US" altLang="ko-KR" sz="12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74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50" y="3952875"/>
            <a:ext cx="22860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02 </a:t>
            </a:r>
            <a:r>
              <a:rPr lang="ko-KR" altLang="en-US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경력 요약</a:t>
            </a:r>
            <a:endParaRPr lang="ko-KR" altLang="en-US" sz="165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76250" y="4305300"/>
            <a:ext cx="5905500" cy="0"/>
          </a:xfrm>
          <a:prstGeom prst="line">
            <a:avLst/>
          </a:prstGeom>
          <a:ln>
            <a:solidFill>
              <a:srgbClr val="DCD5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6250" y="4591050"/>
            <a:ext cx="24765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경력 흐름</a:t>
            </a:r>
            <a:endParaRPr lang="ko-KR" altLang="en-US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76250" y="5095875"/>
            <a:ext cx="5905500" cy="742950"/>
          </a:xfrm>
          <a:prstGeom prst="rect">
            <a:avLst/>
          </a:prstGeom>
          <a:solidFill>
            <a:srgbClr val="FFFDF9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TextBox 5"/>
          <p:cNvSpPr txBox="1"/>
          <p:nvPr/>
        </p:nvSpPr>
        <p:spPr>
          <a:xfrm>
            <a:off x="666750" y="52959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2018 ~ 2019 </a:t>
            </a:r>
            <a:r>
              <a:rPr lang="ko-KR" altLang="en-US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현장형 백엔드</a:t>
            </a:r>
            <a:r>
              <a:rPr lang="en-US" altLang="ko-KR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품질 경험 축적 </a:t>
            </a:r>
            <a:r>
              <a:rPr lang="en-US" altLang="ko-KR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-&gt; 2019 ~ 2023 </a:t>
            </a:r>
            <a:r>
              <a:rPr lang="ko-KR" altLang="en-US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풀스택</a:t>
            </a:r>
            <a:r>
              <a:rPr lang="en-US" altLang="ko-KR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</a:t>
            </a:r>
            <a:r>
              <a:rPr lang="en-US" altLang="ko-KR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·SRE </a:t>
            </a:r>
            <a:r>
              <a:rPr lang="ko-KR" altLang="en-US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확장 </a:t>
            </a:r>
            <a:r>
              <a:rPr lang="en-US" altLang="ko-KR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-&gt; 2023 ~ </a:t>
            </a:r>
            <a:r>
              <a:rPr lang="ko-KR" altLang="en-US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현재 연계 솔루션 구조 개선과 </a:t>
            </a:r>
            <a:r>
              <a:rPr lang="en-US" altLang="ko-KR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120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주도</a:t>
            </a:r>
            <a:endParaRPr lang="ko-KR" altLang="en-US" sz="120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76250" y="6096000"/>
            <a:ext cx="1809750" cy="1466850"/>
          </a:xfrm>
          <a:prstGeom prst="rect">
            <a:avLst/>
          </a:prstGeom>
          <a:solidFill>
            <a:srgbClr val="FFFDF9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직사각형 7"/>
          <p:cNvSpPr/>
          <p:nvPr/>
        </p:nvSpPr>
        <p:spPr>
          <a:xfrm>
            <a:off x="2524125" y="6096000"/>
            <a:ext cx="1809750" cy="1466850"/>
          </a:xfrm>
          <a:prstGeom prst="rect">
            <a:avLst/>
          </a:prstGeom>
          <a:solidFill>
            <a:srgbClr val="FFFDF9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직사각형 8"/>
          <p:cNvSpPr/>
          <p:nvPr/>
        </p:nvSpPr>
        <p:spPr>
          <a:xfrm>
            <a:off x="4572000" y="6096000"/>
            <a:ext cx="1809750" cy="1466850"/>
          </a:xfrm>
          <a:prstGeom prst="rect">
            <a:avLst/>
          </a:prstGeom>
          <a:solidFill>
            <a:srgbClr val="FFFDF9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TextBox 10"/>
          <p:cNvSpPr txBox="1"/>
          <p:nvPr/>
        </p:nvSpPr>
        <p:spPr>
          <a:xfrm>
            <a:off x="647700" y="6553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2018.01 ~ 2019.10</a:t>
            </a:r>
            <a:endParaRPr lang="ko-KR" altLang="en-US" sz="900">
              <a:solidFill>
                <a:srgbClr val="5A606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700" y="6819900"/>
            <a:ext cx="1381125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제조 </a:t>
            </a:r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리드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철도 </a:t>
            </a:r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IC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라이브러리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철도 </a:t>
            </a:r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 시스템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95575" y="6553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2019.11 ~ 2023.05</a:t>
            </a:r>
            <a:endParaRPr lang="ko-KR" altLang="en-US" sz="900">
              <a:solidFill>
                <a:srgbClr val="5A606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95575" y="6819900"/>
            <a:ext cx="1381125" cy="8425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Molida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코딩 테스트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전자계약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메타버스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포렌식 서비스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43450" y="6553200"/>
            <a:ext cx="1143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2023.09 ~ </a:t>
            </a:r>
            <a:r>
              <a:rPr lang="ko-KR" altLang="en-US" sz="900" smtClean="0">
                <a:solidFill>
                  <a:srgbClr val="5A606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현재</a:t>
            </a:r>
            <a:endParaRPr lang="ko-KR" altLang="en-US" sz="900">
              <a:solidFill>
                <a:srgbClr val="5A606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43450" y="6819900"/>
            <a:ext cx="1381125" cy="5424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eCross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 솔루션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제품 </a:t>
            </a:r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메인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클라우드 운영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976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50" y="3952875"/>
            <a:ext cx="28575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03 </a:t>
            </a:r>
            <a:r>
              <a:rPr lang="ko-KR" altLang="en-US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역량</a:t>
            </a:r>
            <a:endParaRPr lang="ko-KR" altLang="en-US" sz="165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76250" y="4305300"/>
            <a:ext cx="5905500" cy="0"/>
          </a:xfrm>
          <a:prstGeom prst="line">
            <a:avLst/>
          </a:prstGeom>
          <a:ln>
            <a:solidFill>
              <a:srgbClr val="DCD5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76250" y="4591050"/>
            <a:ext cx="1809750" cy="1428750"/>
          </a:xfrm>
          <a:prstGeom prst="rect">
            <a:avLst/>
          </a:prstGeom>
          <a:solidFill>
            <a:srgbClr val="F7F4EF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5" name="직사각형 4"/>
          <p:cNvSpPr/>
          <p:nvPr/>
        </p:nvSpPr>
        <p:spPr>
          <a:xfrm>
            <a:off x="2524125" y="4591050"/>
            <a:ext cx="1809750" cy="1428750"/>
          </a:xfrm>
          <a:prstGeom prst="rect">
            <a:avLst/>
          </a:prstGeom>
          <a:solidFill>
            <a:srgbClr val="F7F4EF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직사각형 5"/>
          <p:cNvSpPr/>
          <p:nvPr/>
        </p:nvSpPr>
        <p:spPr>
          <a:xfrm>
            <a:off x="4572000" y="4591050"/>
            <a:ext cx="1809750" cy="1428750"/>
          </a:xfrm>
          <a:prstGeom prst="rect">
            <a:avLst/>
          </a:prstGeom>
          <a:solidFill>
            <a:srgbClr val="F7F4EF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TextBox 7"/>
          <p:cNvSpPr txBox="1"/>
          <p:nvPr/>
        </p:nvSpPr>
        <p:spPr>
          <a:xfrm>
            <a:off x="647700" y="5086350"/>
            <a:ext cx="1381125" cy="9925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Java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Spring / Boot / WebFlux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JPA / MyBatis / Batch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Kafka / Quartz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5575" y="4781551"/>
            <a:ext cx="1143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Infra / Ops</a:t>
            </a:r>
            <a:endParaRPr lang="ko-KR" altLang="en-US" sz="1200" b="1">
              <a:solidFill>
                <a:srgbClr val="B26E4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95575" y="5086350"/>
            <a:ext cx="1381125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AWS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Docker / Jenkins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HAProxy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온프레미스 운영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43450" y="4781551"/>
            <a:ext cx="1143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Work Style</a:t>
            </a:r>
            <a:endParaRPr lang="ko-KR" altLang="en-US" sz="1200" b="1">
              <a:solidFill>
                <a:srgbClr val="B26E4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3450" y="5086350"/>
            <a:ext cx="1381125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문제 원인 분석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구조 개선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자동화</a:t>
            </a:r>
          </a:p>
          <a:p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품질</a:t>
            </a:r>
            <a:r>
              <a:rPr lang="en-US" altLang="ko-KR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75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인증 대응</a:t>
            </a:r>
            <a:endParaRPr lang="ko-KR" altLang="en-US" sz="975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76250" y="6305550"/>
            <a:ext cx="5905500" cy="1409700"/>
          </a:xfrm>
          <a:prstGeom prst="rect">
            <a:avLst/>
          </a:prstGeom>
          <a:solidFill>
            <a:srgbClr val="161F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TextBox 13"/>
          <p:cNvSpPr txBox="1"/>
          <p:nvPr/>
        </p:nvSpPr>
        <p:spPr>
          <a:xfrm>
            <a:off x="685800" y="6515100"/>
            <a:ext cx="1238250" cy="4385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25" b="1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현대차 관점 강점</a:t>
            </a:r>
            <a:endParaRPr lang="ko-KR" altLang="en-US" sz="1125" b="1">
              <a:solidFill>
                <a:srgbClr val="FFFDF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6819901"/>
            <a:ext cx="5334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</a:t>
            </a:r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통합 시스템 경험이 많아 복잡한 내부 시스템 구조를 빠르게 이해할 수 있습니다</a:t>
            </a:r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운영과 릴리즈를 고려한 개발 경험이 있어 단순 기능 구현보다 실서비스 안정화에 강점이 있습니다</a:t>
            </a:r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초기 제조 </a:t>
            </a:r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경험이 있어 품질</a:t>
            </a:r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프로세스</a:t>
            </a:r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협업의 중요도를 잘 이해하고 있습니다</a:t>
            </a:r>
            <a:r>
              <a:rPr lang="en-US" altLang="ko-KR" sz="1200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FFFDF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990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50" y="3952875"/>
            <a:ext cx="32385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08 </a:t>
            </a:r>
            <a:r>
              <a:rPr lang="ko-KR" altLang="en-US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초기 경력이 주는 강점</a:t>
            </a:r>
            <a:endParaRPr lang="ko-KR" altLang="en-US" sz="165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76250" y="4305300"/>
            <a:ext cx="5905500" cy="0"/>
          </a:xfrm>
          <a:prstGeom prst="line">
            <a:avLst/>
          </a:prstGeom>
          <a:ln>
            <a:solidFill>
              <a:srgbClr val="DCD5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476250" y="4591050"/>
            <a:ext cx="1809750" cy="2762250"/>
          </a:xfrm>
          <a:prstGeom prst="rect">
            <a:avLst/>
          </a:prstGeom>
          <a:solidFill>
            <a:srgbClr val="FFFDF9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5" name="직사각형 4"/>
          <p:cNvSpPr/>
          <p:nvPr/>
        </p:nvSpPr>
        <p:spPr>
          <a:xfrm>
            <a:off x="2524125" y="4591050"/>
            <a:ext cx="1809750" cy="2762250"/>
          </a:xfrm>
          <a:prstGeom prst="rect">
            <a:avLst/>
          </a:prstGeom>
          <a:solidFill>
            <a:srgbClr val="FFFDF9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6" name="직사각형 5"/>
          <p:cNvSpPr/>
          <p:nvPr/>
        </p:nvSpPr>
        <p:spPr>
          <a:xfrm>
            <a:off x="4572000" y="4591050"/>
            <a:ext cx="1809750" cy="2762250"/>
          </a:xfrm>
          <a:prstGeom prst="rect">
            <a:avLst/>
          </a:prstGeom>
          <a:solidFill>
            <a:srgbClr val="FFFDF9"/>
          </a:solidFill>
          <a:ln>
            <a:solidFill>
              <a:srgbClr val="DCD5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/>
        </p:nvSpPr>
        <p:spPr>
          <a:xfrm>
            <a:off x="647700" y="4781551"/>
            <a:ext cx="1143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제조 시스템 </a:t>
            </a:r>
            <a:r>
              <a:rPr lang="en-US" altLang="ko-KR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</a:t>
            </a:r>
            <a:endParaRPr lang="ko-KR" altLang="en-US" sz="1200" b="1">
              <a:solidFill>
                <a:srgbClr val="B26E4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700" y="5086350"/>
            <a:ext cx="1381125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철강 산업 제조 시스템 </a:t>
            </a:r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Group 1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리드</a:t>
            </a:r>
          </a:p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테스트 증적 리뷰</a:t>
            </a:r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시나리오 테스트</a:t>
            </a:r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배치 테스트 수행</a:t>
            </a:r>
          </a:p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 계약 연장 요청 확보</a:t>
            </a:r>
            <a:endParaRPr lang="ko-KR" altLang="en-US" sz="1050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5575" y="4781551"/>
            <a:ext cx="1143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철도 </a:t>
            </a:r>
            <a:r>
              <a:rPr lang="en-US" altLang="ko-KR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IC </a:t>
            </a:r>
            <a:r>
              <a:rPr lang="ko-KR" altLang="en-US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라이브러리</a:t>
            </a:r>
            <a:endParaRPr lang="ko-KR" altLang="en-US" sz="1200" b="1">
              <a:solidFill>
                <a:srgbClr val="B26E4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95575" y="5086350"/>
            <a:ext cx="1381125" cy="122341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IC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카드 데이터 처리 라이브러리 개발</a:t>
            </a:r>
          </a:p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주당 </a:t>
            </a:r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만</a:t>
            </a:r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~8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만 라인 규모 </a:t>
            </a:r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JUnit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테스트 코드 작성</a:t>
            </a:r>
          </a:p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일정 </a:t>
            </a:r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개월 단축</a:t>
            </a:r>
            <a:endParaRPr lang="ko-KR" altLang="en-US" sz="1050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43450" y="4781550"/>
            <a:ext cx="1143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철도 </a:t>
            </a:r>
            <a:r>
              <a:rPr lang="en-US" altLang="ko-KR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sz="1200" b="1" smtClean="0">
                <a:solidFill>
                  <a:srgbClr val="B26E4C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 시스템</a:t>
            </a:r>
            <a:endParaRPr lang="ko-KR" altLang="en-US" sz="1200" b="1">
              <a:solidFill>
                <a:srgbClr val="B26E4C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3450" y="5086350"/>
            <a:ext cx="1381125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 프로세스 고도화와 신규 단말기 프로세스 개발</a:t>
            </a:r>
          </a:p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치명적 결함 조기 발견으로 서비스 장애 예방</a:t>
            </a:r>
          </a:p>
          <a:p>
            <a:r>
              <a:rPr lang="en-US" altLang="ko-KR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0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안정성과 신뢰가 중요한 시스템 경험</a:t>
            </a:r>
            <a:endParaRPr lang="ko-KR" altLang="en-US" sz="1050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6250" y="7620001"/>
            <a:ext cx="57150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초기 경력에서 쌓은 품질</a:t>
            </a:r>
            <a:r>
              <a:rPr lang="en-US" altLang="ko-KR" sz="13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테스트</a:t>
            </a:r>
            <a:r>
              <a:rPr lang="en-US" altLang="ko-KR" sz="13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협업</a:t>
            </a:r>
            <a:r>
              <a:rPr lang="en-US" altLang="ko-KR" sz="13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안정성 중심 경험은 제조기업 환경에서 특히 강점이 됩니다</a:t>
            </a:r>
            <a:r>
              <a:rPr lang="en-US" altLang="ko-KR" sz="13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5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0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092200"/>
            <a:ext cx="5969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상세 포트폴리오 구성</a:t>
            </a:r>
            <a:endParaRPr lang="ko-KR" altLang="en-US" sz="24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400" y="1905000"/>
            <a:ext cx="5969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1. eCross</a:t>
            </a:r>
          </a:p>
          <a:p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2. Saforus</a:t>
            </a:r>
          </a:p>
          <a:p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3. HR Metaverse / Electronic Contract / Coding Test</a:t>
            </a:r>
          </a:p>
          <a:p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4. Gangneung Citizen App</a:t>
            </a:r>
          </a:p>
          <a:p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5. Molida</a:t>
            </a:r>
          </a:p>
          <a:p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6. Blockchain Certificate Portal</a:t>
            </a:r>
          </a:p>
          <a:p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7. Railway POS / IC Library / Manufacturing QA / E-Learning</a:t>
            </a:r>
          </a:p>
          <a:p>
            <a:endParaRPr lang="en-US" altLang="ko-KR" sz="1600" smtClean="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각 프로젝트 뒤에는 관련 </a:t>
            </a:r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additional </a:t>
            </a:r>
            <a:r>
              <a:rPr lang="ko-KR" altLang="en-US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내용을 바로 배치해</a:t>
            </a:r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ko-KR" altLang="en-US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기술적 깊이와 개선 근거를 함께 확인할 수 있도록 구성했습니다</a:t>
            </a:r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600" smtClean="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최종본에서는 코드 원문 위주의 장표와 정보 밀도가 낮은 장표를 줄여</a:t>
            </a:r>
          </a:p>
          <a:p>
            <a:r>
              <a:rPr lang="ko-KR" altLang="en-US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제출용 포트폴리오 관점에서 읽기 쉽게 정리했습니다</a:t>
            </a:r>
            <a:r>
              <a:rPr lang="en-US" altLang="ko-KR" sz="16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71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EAI/ESB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 솔루션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(eCross)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비즈니스 내에서 서비스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애플리케이션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자원을 연결하고 통합하는 미들웨어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ESB(Enterprise Service Bus) S/W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로써 이를 통해 분산된 서비스 컴포넌트를 쉽게 통합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연동할 수 있어 신뢰성 있는 메시지 통신을 가능하게 하는 연계 솔루션입니다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209800"/>
          <a:ext cx="5943600" cy="123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2023.09 ~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기능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중심 풀스택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제품 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QA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메인 담당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클라우드 관리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58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3924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3815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백엔드 및 공통 기능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775200"/>
            <a:ext cx="5842000" cy="208262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메시지 기반 인터페이스 처리 로직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ETL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기능 프로토타입 설계 및 구현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WebFlux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비동기 처리 구조 개선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대용량 메시지 분할 전송 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인터페이스 통신의 시뮬레이션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Log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관리 기능 구현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인증서 암호화 통신 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인터페이스 통신의 스케줄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스케줄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모니터링 트러블 슈팅 대응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 유지보수 대응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69596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프론트엔드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73533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React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UI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투입 초기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년간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프론트 에러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변경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CSS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등의 대응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78867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 및 품질 대응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8280400"/>
            <a:ext cx="5842000" cy="7899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센터 내 프로젝트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SP/GS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인증 대응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AWS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클라우드 관리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클라우드 호완성 대응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5600" y="95250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3400" y="99822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MDC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로깅 구조 개선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10325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인터페이스별로 분산되어 있던 다수의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Appender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MDC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기반으로 통합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10668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logback.xml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설정을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90%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이상 단순화하여 유지보수성을 높였습니다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13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EAI/ESB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 솔루션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(eCross)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MDC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로깅 구조 정리 예시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13843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Saga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패턴 적용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7272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다수의 서버의 통신 과정에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Saga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패턴을 적용에 핵심 부분 기여로 분산 트랜잭션 관리 효율 개선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260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트랜잭션 관리 효율 약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50%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개선 성과를 만들었습니다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603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Saga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처리 구조 및 예시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" y="29464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대용량 메시지 처리 안정화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2893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WebFlux expand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메시지 분할 기능을 구현으로 통신의 메시지 누적으로 인한 에러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(OOM)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해결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3822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대용량 인터페이스 분할 처리 중 발생하던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OOM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오류를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100%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감소시켰습니다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4165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OOM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개선 내용 예시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3400" y="45085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ETL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프로토타입 성능 검증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485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 요청 기반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Spring boot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이용한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ETL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기능을 프로토타입 구현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51943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3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 스레드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8GB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힙 메모리 환경에서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천만 건 데이터를 처리에 상용 솔루션 대비 약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6~8%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빠른 성능을 확인했습니다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5727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ETL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프로토타입 정리 예시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3400" y="60706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릴리즈 빌드 테스트 자동화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6413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릴리즈 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DB Meta Data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와 현행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스키마를 자동 검증하는 기능을 구현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67564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수작업으로 진행하던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스키마 검증을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100%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자동화하여 휴먼 에러를 제거하고 검증 신뢰도를 향상시켰습니다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7289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DB Mata Data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검증 예시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3400" y="76327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품질 및 인증 대응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" y="79756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클라우드 호완성 인증 주도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 SCP(Samgsung Cloud Platform,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클라우드 설정 팀원 교육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7200" y="8509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SP/GS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인증 획득에 참여해 제품의 표준화와 신뢰도 향상에 기여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7200" y="8851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클라우드 팀과 협력하여 릴리스 배포 체계 및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SBOM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 품질 관리에 관한 체계 지원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55600" y="95377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57200" y="9994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Backend: Java, Spring Boot, Spring WebFlux, JPA, Kafka, Spring Batch, Mybatis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57200" y="10337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Frontend: React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57200" y="10680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Database: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다양한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DBMS(Oracle, H2, Tibero, MSsql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6441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EAI/ESB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 솔루션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(eCross)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Infrastructure: AWS, Docker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384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DevOps: Jenkins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727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Architecture: MSA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5600" y="24130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화면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28702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통계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1" name="그림 20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3263900"/>
            <a:ext cx="5689600" cy="266992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337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66802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트랜잭션 추적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" name="그림 26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7073900"/>
            <a:ext cx="5689600" cy="24573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7200" y="993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102743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인터페이스 관리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903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EAI/ESB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 솔루션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(eCross)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041400"/>
            <a:ext cx="5689600" cy="25504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987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43307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로그 관리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4724400"/>
            <a:ext cx="5689600" cy="260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5600" y="110998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eCross </a:t>
            </a:r>
            <a:r>
              <a:rPr lang="ko-KR" altLang="en-US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화면 예시</a:t>
            </a:r>
            <a:endParaRPr lang="ko-KR" altLang="en-US" sz="1100">
              <a:solidFill>
                <a:srgbClr val="66708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113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MDC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로깅 구조 정리 예시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로깅 설정 구조 단순화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384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인터페이스별로 분산되어 있던 다수의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Appender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단일 구조로 통합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727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신규 인터페이스 추가 시 설정 변경 없이 확장 가능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070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MDC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동적 로그 분리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413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MDC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에 인터페이스 식별자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(id)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설정하여 로그를 동적으로 분리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2755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id.log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형태로 자동 파일 생성되어 인터페이스 단위 로그 관리 가능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098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유지보수성 향상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3441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logback.xml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설정 복잡도 감소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3784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설정 변경 리스크 최소화 및 운영 안정성 확보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42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Reactor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비동기 워크플로우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&amp; Saga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처리 구조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5600" y="1384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포인트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841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Hub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채널 간 트랜잭션 관리 단순화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184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Step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단위로 실행 상태를 관리하여 복잡한 흐름 제어를 단순화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5273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프로세스 진행 중 에러 시 설정 여부에 따라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skip /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후속 처리 분기를 통해 전체 중단 없이 안정적인 처리 가능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3060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분할 처리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(Split Processing)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지원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403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대용량 데이터 처리 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chunk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단위로 처리 가능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3746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writer/reader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이후 흐름을 구분하여 중복 실행 방지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4089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비동기 워크플로우 처리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4432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WebClient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활용한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non-blocking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호출 구조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4775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 중심 장애 처리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5118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모니터링에 상태가 기록됨으로 어느 구간에서 장애 발생 파악 가능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185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OOM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개선 내용 예시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중첩된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flatMap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체인을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expand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반복 구조로 변경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6149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ETL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프로토타입 정리 예시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2413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5600" y="27559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213100"/>
            <a:ext cx="5969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Spring Batch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Partitioning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구조를 활용하여 대용량 데이터를 병렬로 처리하는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ETL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프로토타입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 Extract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Load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각각 독립적인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Step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으로 구성하고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chunk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처리와 예외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skip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전략을 적용하여 성능과 안정성을 동시에 확보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3924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5600" y="42672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코드 예제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4724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Extract Step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57200" y="5067300"/>
            <a:ext cx="5943600" cy="2946400"/>
          </a:xfrm>
          <a:prstGeom prst="rect">
            <a:avLst/>
          </a:prstGeom>
          <a:solidFill>
            <a:srgbClr val="FAF7F2"/>
          </a:solidFill>
          <a:ln>
            <a:solidFill>
              <a:srgbClr val="D2DC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584200" y="5168900"/>
            <a:ext cx="5689600" cy="58682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public Step slaveStep(StepBuilderFactory stepBuilderFactory, ReadRequestDto requestDto, DataSourceUtils dataSourceUtils) {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setDataBaseConfig(dataSourceUtils.getDataSource());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@SuppressWarnings("unchecked")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ItemReader&lt;Map&lt;String, Object&gt;&gt; reader = (ItemReader&lt;Map&lt;String, Object&gt;&gt;) context.getBean("extractReader");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@SuppressWarnings("unchecked")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ItemWriter&lt;Map&lt;String, Object&gt;&gt; writer = (ItemWriter&lt;Map&lt;String, Object&gt;&gt;) context.getBean("extractWriter");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@SuppressWarnings("unchecked")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ItemReadListener&lt;Map&lt;String, Object&gt;&gt; itemReadListener = (ItemReadListener&lt;Map&lt;String, Object&gt;&gt;) context.getBean("extractReadLoggingListener");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FileWriteAndExecutionItemListener fileWriteAndExecutionItemListener =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(FileWriteAndExecutionItemListener) context.getBean("fileWriteAndExecutionItemListener");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return stepBuilderFactory.get("subStep")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.&lt;Map&lt;String, Object&gt;, Map&lt;String, Object&gt;&gt;chunk(requestDto.getChunkSize())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.reader(reader)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.writer(writer)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.listener(itemReadListener)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.faultTolerant()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.skip(Exception.class)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.skipLimit(Integer.MAX_VALUE)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.listener((ItemWriteListener&lt;? super Map&lt;String, Object&gt;&gt;) fileWriteAndExecutionItemListener)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.listener((StepExecutionListener) fileWriteAndExecutionItemListener)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.transactionManager(transactionManager)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.build();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@JobScope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public Job createPartitionedJob(ReadRequestDto requestDto) {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init(requestDto);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Step masterStep = stepBuilderFactory.get("etlMainStep")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.partitioner("etlSubStep", dBPartitioner)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.step(dBExtractStep.slaveStep(stepBuilderFactory, requestDto, dataSourceUtils))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.gridSize(requestDto.getPartitionSize())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.taskExecutor(taskExecutor(requestDto.getPartitionSize()))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.build();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return jobBuilderFactory.get("partitioned-extract-job-" + System.currentTimeMillis())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.start(masterStep)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.listener(cleanupListener())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.preventRestart()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.build();</a:t>
            </a:r>
          </a:p>
          <a:p>
            <a:r>
              <a:rPr lang="en-US" altLang="ko-KR" sz="9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9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8115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8458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Load Step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5680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DB Mata Data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검증 예시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5600" y="1384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구조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841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Gradle JvmTestSuite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테스트 실행 구성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184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릴리즈 시점 자동 실행 가능한 테스트 구조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527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환경 기반 검증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2870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5600" y="32131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포인트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400" y="3670300"/>
            <a:ext cx="5842000" cy="7899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DB Meta Data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와 실제 스키마 간 불일치 사전 차단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휴먼 에러 방지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릴리즈 안정성 및 데이터 정합성 확보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필요한 검증만 선택 실행 가능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효율성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350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미디어 파일 포렌식 서비스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(Saforus)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미디어 파일의 포렌식 워터마그 적용 및 유출 추적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DRM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적용을 지원하는 포렌식 서비스 개발 프로젝트입니다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설계부터 백엔드 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AWS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서버 운영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해외개발자 협업 대응까지 함께 맡으며 제품 구조와 운영 안정성을 동시에 다뤘습니다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209800"/>
          <a:ext cx="5943600" cy="123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2023.01 ~ 2023.05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프로젝트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AWS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서버 운영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SRE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58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3924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3815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설계 및 백엔드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775200"/>
            <a:ext cx="5842000" cy="152862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설계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(MSA)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아키텍쳐링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오케스트레이션 모듈 개발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작업 흐름 제어 모듈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컴포저 모듈 개발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워터마크가 적용된 미디어 파일 조합 모듈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포렌식 모듈 개발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포렌식 워터마크 적용 모듈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미디어 파일 검증 모듈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FFmpeg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의 명령어를 이용한 포렌식 기능 강화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각 서버의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Queue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상태 조회 기능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64135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인프라 및 운영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68072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AWS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환경의 인프라 구축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(EC2, ALB, EFS, S3, CDN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AWS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GPU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 별도 관리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git -&gt; Jenkins -&gt; Docker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배포 환경 관리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(CI/CD)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75184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기타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79121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기획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디자인 팀과의 커뮤니케이션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프로젝트에 속한 해외 개발자 서포트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(Front-end 2, Back-end 1)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8445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기술 지원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관련 내용 및 지시사항 전달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5600" y="9131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400" y="95885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모듈 단독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993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SRE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오케스트레이션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컴포저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포렌식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검증 모듈을 단독으로 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10274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전체 프로젝트 기준으로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45%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이상 기여했습니다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3400" y="106172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포렌식 정확도 개선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2376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미디어 파일 포렌식 서비스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(Saforus)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Resolution, Frame, GOP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등을 이용한 포렌식 코어 라이브러리의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FFmpeg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가이드라인 커맨드를 최적화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574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미디어 유출 사용자 추적 정확도를 약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10%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향상시켰습니다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400" y="19177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아키텍처 재구성과 데모 리딩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2606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 중 시스템 아키텍처를 재구성하고 팀원 업무 배분함으로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Universal Studios(US)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대상 긴급 데모를 성공적으로 주도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400" y="27940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Scale Out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에 필요한 수치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31369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Working server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의 작업량을 조회하고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Queue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기반으로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Scale-out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Scale-in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판단 지표를 산출하는 기능 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670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개발이유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: AWS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에서 제공하는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Scale-in &amp; out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의 수치와 프로젝트와 부적합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5600" y="43561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4813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Backend: Java, MyBatis, Spring boot, JWT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5156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Database: PostgreSQL, Redis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5499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Infra/DevOps: AWS (EC2, S3, VPC, ALB), Docker, Jenkins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5842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Media: FFmpeg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6184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Collaboration: GitLab, Jira, Confluence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6527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Architecture: MSA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5600" y="72136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화면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76708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업로드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5" name="그림 4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8064500"/>
            <a:ext cx="5689600" cy="265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75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미디어 파일 포렌식 서비스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(Saforus)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3843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검출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778000"/>
            <a:ext cx="5689600" cy="2597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5600" y="110998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Saforus </a:t>
            </a:r>
            <a:r>
              <a:rPr lang="ko-KR" altLang="en-US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화면 예시</a:t>
            </a:r>
            <a:endParaRPr lang="ko-KR" altLang="en-US" sz="1100">
              <a:solidFill>
                <a:srgbClr val="66708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3627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인사관리형 메타버스 서비스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가상의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공간에서 출근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근태관리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회의 등 회사 생활의 모든 업무를 메타버스 환경에서 수행할 수 있는 혁신적인 인사관리 플랫폼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032000"/>
          <a:ext cx="5943600" cy="160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2022.08 - 2022.12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시스템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SRE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차 개발 중 우선순위가 높은 프로젝트 참여로 프로젝트 개발 보류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771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41148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설계 및 백엔드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9657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설계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(MSA)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아키텍쳐링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Unity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와의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REST API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6769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인프라 및 운영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60706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AWS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환경의 인프라 구축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(EC2, ALB, EFS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git -&gt; Jenkins -&gt; Docker and Local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배포 환경 관리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(CI/CD)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6604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국제 팀 협력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69977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프로젝트에 속한 해외 개발자 서포트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(Front-end 2, Back-end 1, Unity 1)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7340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기술 지원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관련 내용 및 지시사항 전달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400" y="76835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Unity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개발자의 게임 서버 설치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설정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트러블슈팅 전반 지원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5600" y="8369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3400" y="8826500"/>
            <a:ext cx="5842000" cy="115929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Backend: Java, Spring Boot, Spring Cloud (Gateway, Eureka), MyBatis, JWT, ELK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Database: PostgreSQL, Redis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Infrastructure / DevOps: AWS (EC2, EFS, VPC), Docker, Jenkins, GitLab CI/CD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Monitoring &amp; Tooling: Zipkin, Portainer, Swagger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Architecture: MSA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Client: Unity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577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산업자원부 전자계약 시스템 개발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전자문서지갑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산업자원부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정부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전자 계약 시스템의 개발 지연을 해결하기 위한 응급 지원 프로젝트입니다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법적 효력을 갖춘 전자 계약 환경을 구축하기 위해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PKI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연동 및 전자 서명 연동을 담당했습니다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209800"/>
          <a:ext cx="59436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2022.06 - 2022.07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엔드 개발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556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38989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3561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749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PKI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전자 서명 기능 연동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3400" y="50927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제공된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PKI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라이브러리를 서비스에 시스템 연동하여 로그인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PDF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에 개인키로 서명 값 삽입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서명된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PDF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공개키를 통해 검증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58039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지연된 일정 소화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3400" y="61976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프론트엔드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백엔드의 지연된 일정 지원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협력사 직원의 트러블 슈팅 지원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5600" y="70739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400" y="75311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지연된 개발 일정의 정상화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7874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개월 이상 지연된 프로젝트를 정상화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5600" y="85598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9017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Backend: Java,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전자정부 프레임워크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9359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Frontend: Javascript, CSS, HTML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" y="9702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etc: Jenkins, GitHub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7200" y="10045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55600" y="107315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화면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860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산업자원부 전자계약 시스템 개발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전자문서지갑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435100"/>
            <a:ext cx="5689600" cy="33160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5600" y="110998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산업자원부 전자계약 시스템 개발</a:t>
            </a:r>
            <a:r>
              <a:rPr lang="en-US" altLang="ko-KR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전자문서지갑</a:t>
            </a:r>
            <a:r>
              <a:rPr lang="en-US" altLang="ko-KR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 화면 예시</a:t>
            </a:r>
            <a:endParaRPr lang="ko-KR" altLang="en-US" sz="1100">
              <a:solidFill>
                <a:srgbClr val="66708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2375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코딩 테스트 서비스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개의 개발 언어를 지원하는 코딩 테스트 서비스입니다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코드문제 및 코드 실행의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CPU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실제 경과 시간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실행 중 최대 메모리 등을 측정하여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사용자에게 제공합니다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032000"/>
          <a:ext cx="5943600" cy="160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2022.02 ~ 2022.05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시스템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SRE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차 개발 완료 후 오픈 전 시장성에 대한 문제로 중단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771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41148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9657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설계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API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Isolate SandBox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이용한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Execution Server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676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Isolate SandBox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예제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60198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인프라 및 운영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3400" y="64135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Docker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온프레미스 배포 구조 설계 및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IDC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 운영 및 배포 관리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각 언어의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Compiler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설치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5600" y="74676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400" y="79248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12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 언어 지원 코딩 테스트 코어 개발 및 프로젝트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40%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이상 기여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8267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Isolate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샌드박스를 활용해 특정 버전의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 개발 언어를 지원하는 실행 환경을 구현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8610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Java, C, C++, C#, Scala, Swift, Python2, Python3, Go, Kotlin, Javascript, R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8953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아키텍쳐링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 운영을 모두 전담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92964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온프레미스 설치 시간 단축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96393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Docker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온프레미스 솔루션을 구성해 설치 과정의 단순화 및 설치 시간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25%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이상 단축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5600" y="105156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5641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코딩 테스트 서비스 개발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Backend: Java, JWT, Spring boot, Mybatis, Isolate Sandbox, Websocket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384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Database: MariaDB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1727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Infra &amp; Ops: Docker-based deployment, Shell automation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3756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강릉시 커뮤니티 앱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내손안에 강릉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7899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강릉의 스마트시티 챌린지 사업의 일부로 도서관증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시민증을 모바일로 발급받아 간편히 이용하고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정부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24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연계를 통해 마이데이터 기반 개인 맞춤 서비스와 복지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행정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관광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여행 정보를 제공해 시민과 방문객 모두의 편의성을 높인 시민 생활형 통합 서비스 앱입니다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400300"/>
          <a:ext cx="5943600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2021.08 ~ 2022.01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프로젝트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SRE,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해외 개발자 지원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차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핵심 기능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아키텍처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완료 및 안정화 후 타 프로젝트 설계로 인해 프로젝트 전환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4343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4686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51435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및 연동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5537200"/>
            <a:ext cx="5842000" cy="115929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설계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정부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24 API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연동으로 공공 마이데이터 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정부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24 API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연동 맞춤복지 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국가 행정망 연동으로 강릉 시민 확인 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모바일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 통신간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RSA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암호화 기법을 이용하여 데이터 통신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DB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백업 스트립트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68072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 및 배포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72009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Docker, Shell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배포 자동화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테스트 서버 및 강릉시 운영 서버 구축 및 서버운영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해외 개발자 업무 지원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(Mobile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5600" y="82550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3400" y="87122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공공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연동 기반 마이데이터 기능 구현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9055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국가행정망 연계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정부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연계하여 주요 기능인 마이데이터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맞춤복지 기능을 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93980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 자체보다 장애 대응 및 문의 과정에서 담당 부서 식별의 어려움이 주요 이슈로 작용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400" y="99314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1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차 개발 전 과정 주도적 참여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102743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인프라 구축 등 프로젝트 전반에 걸쳐 핵심 역할 수행으로 전체 개발 기여도 약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35%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이상 담당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5508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강릉시 커뮤니티 앱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내손안에 강릉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826" y="1041400"/>
            <a:ext cx="1768348" cy="38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245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588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마이데이터 지갑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826" y="5981700"/>
            <a:ext cx="1768348" cy="381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185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5600" y="110998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강릉시 커뮤니티 앱 화면 예시</a:t>
            </a:r>
            <a:endParaRPr lang="ko-KR" altLang="en-US" sz="1100">
              <a:solidFill>
                <a:srgbClr val="66708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6149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기반 교육 이력 및 자격증 인증 서비스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(Molida)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교육 이력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수상이력과 자격증 정보 등을 관리하고 증명서 발급을 넘어 기관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대학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지자체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공기업 등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의 증명서 발급 및 제작까지 지원하는 블록체인 기반 서비스 프로젝트입니다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209800"/>
          <a:ext cx="5943600" cy="123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2019.11 ~ 2022.01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시스템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프론트엔드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서버 운영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58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3924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5600" y="43815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설계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8387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시스템 설계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화면 설계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3721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5765800"/>
            <a:ext cx="5842000" cy="208262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메인기능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기반 학습이력 관리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기반 학습이력 관리의 자동등록 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연동의 증명서 검증과 증명서 생성 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MariaDB Event Scheduler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Stored Procedure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데이터 격리 보관 자동화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MariaDB Stored Procedure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기반의 데이터 격리 보관 자동화 기능의 로그 관리 기능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직접 제작 기능의 백엔드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보안 취약점 대응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 요구사항 대응 및 유지보수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휴대폰 본인 인증 기능 연동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다양한 게시판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회원가입 등의 홈페이지 기능 기본에 관련한 백엔드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7950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운영자 페이지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82931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운영서버 트러블 슈팅 대응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정기점검 관련 대응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88265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프론트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400" y="92202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직접 제작 기능의 프론트엔드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다양한 게시판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팝업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회원가입 등의 홈페이지 기능 기본에 관련한 프론트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9753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기관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운영자 페이지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400" y="100965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퍼블리싱의 수정 및 퍼블리싱을 이용한 프론트엔드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5600" y="10439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서버운영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504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기반 교육 이력 및 자격증 인증 서비스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(Molida)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3400" y="10414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IDC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서버 운영 담당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Docker, Shell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배포 자동화 관리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ISMS-P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인증의 서버 보안 관련 대응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600" y="20955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400" y="25527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생성 기능 내재화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28956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생성 기능을 직접 설계하고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프론트엔드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(JavaScript)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와 백엔드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(Java)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모두 자체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외부 라이브러리 의존성을 제거하여 약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천만 원의 개발 비용 절감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3771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생성 기능 일부 예시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400" y="41148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ISMS-P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취득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44577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MariaDB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저장 프로시저 및 이벤트 스케줄러를 활용한 데이터 분리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보관 자동화 시스템 구축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4991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프로시저 단위 로깅 시스템 개발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물리 서버 보안 강화 및 보안 취약점 대응 수행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5334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이를 통해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ISMS-P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인증 획득에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20%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이상 기여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5600" y="60198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6477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Backend: Java, MyBatis, Spring framework, Maven, Shell Script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6819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Frontend: HTML, JavaScript, jQuery, Ajax, JSP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7162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Database: MariaDB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7505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Infrastructure: Docker, HAProxy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7848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Monitoring: Prometheus, Grafana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" y="8191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DevOps / Tools: Portainer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55600" y="8534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화면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7200" y="89916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학습이력 리스트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9285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기반 교육 이력 및 자격증 인증 서비스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(Molida)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08" y="1041400"/>
            <a:ext cx="4774311" cy="38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245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588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학습이력 상세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856" y="5981700"/>
            <a:ext cx="3320161" cy="381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185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105283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워터마크 화면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5600" y="110998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Molida </a:t>
            </a:r>
            <a:r>
              <a:rPr lang="ko-KR" altLang="en-US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화면 예시</a:t>
            </a:r>
            <a:endParaRPr lang="ko-KR" altLang="en-US" sz="1100">
              <a:solidFill>
                <a:srgbClr val="66708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2520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기반 교육 이력 및 자격증 인증 서비스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(Molida)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102" y="1041400"/>
            <a:ext cx="2685923" cy="38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245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588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기관 증명서 신청 화면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5981700"/>
            <a:ext cx="5689600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5600" y="110998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Molida </a:t>
            </a:r>
            <a:r>
              <a:rPr lang="ko-KR" altLang="en-US" sz="1100" smtClean="0">
                <a:solidFill>
                  <a:srgbClr val="667080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화면 예시</a:t>
            </a:r>
            <a:endParaRPr lang="ko-KR" altLang="en-US" sz="1100">
              <a:solidFill>
                <a:srgbClr val="667080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16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생성 기능 일부 예시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104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5600" y="1384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핵심 포인트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400" y="1841500"/>
            <a:ext cx="58420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Drag &amp; Drop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방식으로 사용자의 증명서 생성에 있어 편의성 제공 및 동적 증명서 생성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브라우저 상에서 증명서 생성 및 편집 기능 제공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등록한 증명서 양식은 엑셀 데이터와 맵핑하여 증명서 대량 제작에 사용 가능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다량의 페이지 제작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계약서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설명서 등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가능하게 설계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921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5600" y="36068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화면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4064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제작 화면 예시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4457700"/>
            <a:ext cx="5689600" cy="24457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" y="73025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76454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제작 설명 예시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70" y="8039100"/>
            <a:ext cx="4188333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13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기반 증명서 발급 포털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2D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바코드를 이용하여 대학교의 증명서를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PDF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로 발급받아 블록체인에 등록하고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문서의 위변조 여부를 확인할 수 있는 신뢰성 높은 증명서 관리 서비스입니다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032000"/>
          <a:ext cx="59436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2019.11 - 2020.03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화면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프론트엔드 개발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378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37211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1783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572000"/>
            <a:ext cx="5842000" cy="115929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조회 및 발급 화면 구현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증명서 블록체인 서버에 연동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2D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바코드 기반 증명서 인증 기능 연동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위변조 검증 연동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게시판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FAQ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 사용자 서비스 화면 전반 관한 백엔드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인도네시아 버전 대응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842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프론트 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62357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게시판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FAQ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등 사용자 서비스 화면 전반 관한 프론트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및 증명서 관련 화면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67691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설계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71628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사용자 인터페이스 설계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DB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스키마 설계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5600" y="80391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3400" y="84963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신뢰할 수 있는 증명서 시스템 구축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88392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블록체인 기반 위변조 방지 시스템 완성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9182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2D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바코드를 통한 안전한 증명서 인증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5600" y="98679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" y="103251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Backend: Java, Spring Framework, Mybatis, Maven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7200" y="10668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Frontend: HTML, JavaScript, jQuery, Ajax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1991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철도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 시스템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(IC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칩 단말기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칩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신용카드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체크카드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교통카드 등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과 단말기 결제 시스템의 강화 및 기능 추가를 담당하는 철도 시스템의 핵심 결제 인프라 프로젝트입니다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안정적이고 신뢰할 수 있는 결제 처리를 위해 다양한 카드 유형과 단말기를 통합 관리합니다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209800"/>
          <a:ext cx="5943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2019.05 - 2019.10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기능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문서 작성 및 보완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파견지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HITACHI SOLUTIONS(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시나가와 시사이드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911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42545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7117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설계 </a:t>
            </a:r>
            <a:r>
              <a:rPr lang="en-US" altLang="ko-KR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51054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설계서 보수 및 개발 문서 작성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편의점의 새로운 단말기 추가에 따른 프로세스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638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&gt;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신규단말기의 프로세스의 아키텍쳐링 및 점원 교육 기능 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5981700"/>
            <a:ext cx="5842000" cy="7899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고객사의 요구 사항 반영 및 시스템 고도화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IC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카드 데이터 수집 과정에서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Polling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구조를 개선하여 리딩 안정성 및 처리 효율 향상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Perl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을 이용한 로그 수집 기능 개선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68834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투입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72771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Peer Lead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로 동료 상태 보고 및 지시사항 전달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5600" y="79629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3400" y="84201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 인원 소속 회사 우선 선발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8763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고객사로부터 높은 신뢰도로 인력 보충 시 당사 직원 우선 선발 결정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3400" y="91059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 시스템의 크리티컬 결함 발견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9448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결제 프로세스 내 치명적인 결함을 조기에 발견하여 서비스 장애 예방에 기여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5600" y="101346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7200" y="10591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Backend: Java, Apache Struts, Perl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306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IC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칩 관련 철도 시스템 개발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라이브러리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일본 철도 시스템에서 사용되는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IC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카드 데이터 처리를 위한 라이브러리 개발 프로젝트입니다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032000"/>
          <a:ext cx="5943600" cy="160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2018.09 ~ 2019.04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문서 작성 및 보완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테스트 코드 개발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파견지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HITACHI SOLUTIONS(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시나가와 시사이드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771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41148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965700"/>
            <a:ext cx="5842000" cy="78996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 요구 사항 개발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인코딩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디코딩 라이브러리 고도화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 문서 및 테스트 케이스 작성 및 수정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JUnit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기반 테스트 코드 작성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8674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투입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62611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Peer Lead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로 동료 상태 보고 및 지시사항 전달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5600" y="69469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3400" y="74041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대규모 테스트 코드 작성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77470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주당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만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~8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만 라인 규모의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JUnit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테스트 코드작성으로 프로젝트 일정을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개월 단축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3400" y="80899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상위 프로젝트 투입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8432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수행 성과를 기반으로 고난이도 상위 시스템 개발 영역으로 역할 확장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5600" y="91186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9575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Backend: Java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" y="99187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Tools: Redmine, SVN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030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제조 산업 시스템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철강 산업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테스트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철강 산업 도메인의 제조 시스템 프로젝트에서 테스트와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를 담당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조직 내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Group 1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리드 역할을 맡아 테스트 활동을 조율하고 품질 개선에 기여했습니다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2032000"/>
          <a:ext cx="5943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2018.03 ~ 2018.08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QA Group 1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리드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파견지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NRI(Nomura Research Institute)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733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40767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5339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및 테스트 그룹 리드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9276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그룹원 업무 진행 파악 등의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Group 1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리드 수행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그룹원 테스트 에비던스 리뷰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팀장의 지시사항 전달 및 보고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6388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품질 검증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6032500"/>
            <a:ext cx="5842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기능 및 시나리오 테스트 수행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테스트 사양서 작성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장표 테스트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배치 테스트 수행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67437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투입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71374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현장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Peer Lead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로 동료 상태 보고 및 지시사항 전달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5600" y="78232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주요 성과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3400" y="82804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 Group 1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리드 지명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86233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QA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팀 조직 재편 과정에서 평가를 통해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Group 1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리드로 선정되어 역할 수행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3400" y="89662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계약 연장 요청 성과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9309100"/>
            <a:ext cx="596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테스트 증적 리뷰 및 촉박한 릴리즈 일정 대응 등의 성과를 인정받아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고객사로부터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Group 1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계약 연장 요청을 확보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5600" y="10185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7200" y="10642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Backend &amp; Script: Java, PL/SQL, Batch, Shell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7859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6858000" cy="660400"/>
          </a:xfrm>
          <a:prstGeom prst="rect">
            <a:avLst/>
          </a:prstGeom>
          <a:solidFill>
            <a:srgbClr val="002D7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5600" y="152400"/>
            <a:ext cx="4445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E-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러닝 시스템 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게임화 학습 플랫폼</a:t>
            </a:r>
            <a:r>
              <a:rPr lang="en-US" altLang="ko-KR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) - </a:t>
            </a:r>
            <a:r>
              <a:rPr lang="ko-KR" altLang="en-US" sz="2000" b="1" smtClean="0">
                <a:solidFill>
                  <a:srgbClr val="FFFFFF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2000" b="1">
              <a:solidFill>
                <a:srgbClr val="FFFFFF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55600" y="8128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55600" y="11709400"/>
            <a:ext cx="6146800" cy="0"/>
          </a:xfrm>
          <a:prstGeom prst="line">
            <a:avLst/>
          </a:prstGeom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600" y="10414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4986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교육과 게임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을 결합한 퀴즈 형식 사내 직원 교육용 플랫폼입니다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457200" y="1841500"/>
          <a:ext cx="5943600" cy="160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100" b="1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CF2F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기간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2018.01 - 2018.02 (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화면 개발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화면 설계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백엔드 개발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사내에서 기획한 프로젝트</a:t>
                      </a:r>
                      <a:r>
                        <a:rPr lang="en-US" altLang="ko-KR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smtClean="0">
                          <a:solidFill>
                            <a:srgbClr val="263149"/>
                          </a:solidFill>
                          <a:latin typeface="Malgun Gothic" panose="020B0503020000020004" pitchFamily="50" charset="-127"/>
                          <a:ea typeface="맑은 고딕" panose="020B0503020000020004" pitchFamily="50" charset="-127"/>
                        </a:rPr>
                        <a:t>인력 파견으로 인해 프로젝트 초기에만 개발 투입</a:t>
                      </a:r>
                      <a:endParaRPr lang="ko-KR" altLang="en-US" sz="1100">
                        <a:solidFill>
                          <a:srgbClr val="263149"/>
                        </a:solidFill>
                        <a:latin typeface="Malgun Gothic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35814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5600" y="39243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담당 역할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3815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설계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3400" y="4775200"/>
            <a:ext cx="5842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화면 설계</a:t>
            </a:r>
          </a:p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ERD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수정 및 데이터베이스 정규화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3086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화면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400" y="57023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반응형 </a:t>
            </a:r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UI/UX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구현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6045200"/>
            <a:ext cx="5842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sz="1500" b="1" smtClean="0">
                <a:solidFill>
                  <a:srgbClr val="122242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개발</a:t>
            </a:r>
            <a:endParaRPr lang="ko-KR" altLang="en-US" sz="1500" b="1">
              <a:solidFill>
                <a:srgbClr val="122242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64389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RESTful API </a:t>
            </a:r>
            <a:r>
              <a:rPr lang="ko-KR" altLang="en-US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5600" y="7124700"/>
            <a:ext cx="5969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ko-KR" altLang="en-US" b="1" smtClean="0">
                <a:solidFill>
                  <a:srgbClr val="005AA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사용 기술</a:t>
            </a:r>
            <a:endParaRPr lang="ko-KR" altLang="en-US" b="1">
              <a:solidFill>
                <a:srgbClr val="005AA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75819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Backend: Java, Spring Framework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7924800"/>
            <a:ext cx="5969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altLang="ko-KR" sz="1200" smtClean="0">
                <a:solidFill>
                  <a:srgbClr val="26314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Frontend: HTML, JavaScript, jQuery, Ajax</a:t>
            </a:r>
            <a:endParaRPr lang="ko-KR" altLang="en-US" sz="1200">
              <a:solidFill>
                <a:srgbClr val="26314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270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50" y="3952875"/>
            <a:ext cx="2857500" cy="3462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09 </a:t>
            </a:r>
            <a:r>
              <a:rPr lang="ko-KR" altLang="en-US" sz="1650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마무리</a:t>
            </a:r>
            <a:endParaRPr lang="ko-KR" altLang="en-US" sz="1650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476250" y="4305300"/>
            <a:ext cx="5905500" cy="0"/>
          </a:xfrm>
          <a:prstGeom prst="line">
            <a:avLst/>
          </a:prstGeom>
          <a:ln>
            <a:solidFill>
              <a:srgbClr val="DCD5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76250" y="4648200"/>
            <a:ext cx="428625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b="1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현대자동차에서 기여할 수 있는 방향</a:t>
            </a:r>
            <a:endParaRPr lang="ko-KR" altLang="en-US" b="1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6250" y="5238750"/>
            <a:ext cx="5524500" cy="13388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복잡한 시스템 간 연계와 운영 이슈를 구조적으로 분석하고 개선하는 역할</a:t>
            </a:r>
          </a:p>
          <a:p>
            <a:r>
              <a:rPr lang="en-US" altLang="ko-KR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릴리즈 품질과 운영 안정성을 높이는 자동화</a:t>
            </a:r>
            <a:r>
              <a:rPr lang="en-US" altLang="ko-KR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검증 체계 고도화 역할</a:t>
            </a:r>
          </a:p>
          <a:p>
            <a:r>
              <a:rPr lang="en-US" altLang="ko-KR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lang="ko-KR" altLang="en-US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백엔드 구현뿐 아니라 협업</a:t>
            </a:r>
            <a:r>
              <a:rPr lang="en-US" altLang="ko-KR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문서화</a:t>
            </a:r>
            <a:r>
              <a:rPr lang="en-US" altLang="ko-KR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smtClean="0">
                <a:solidFill>
                  <a:srgbClr val="161F31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운영까지 포함한 실무형 개발 역할</a:t>
            </a:r>
            <a:endParaRPr lang="ko-KR" altLang="en-US" sz="1350">
              <a:solidFill>
                <a:srgbClr val="161F31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76250" y="6858000"/>
            <a:ext cx="5905500" cy="857250"/>
          </a:xfrm>
          <a:prstGeom prst="rect">
            <a:avLst/>
          </a:prstGeom>
          <a:solidFill>
            <a:srgbClr val="161F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/>
        </p:nvSpPr>
        <p:spPr>
          <a:xfrm>
            <a:off x="685800" y="7086601"/>
            <a:ext cx="55245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350" b="1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저는 단순히 기능을 만드는 개발자보다</a:t>
            </a:r>
            <a:r>
              <a:rPr lang="en-US" altLang="ko-KR" sz="1350" b="1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b="1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운영 중인 시스템을 더 안정적이고 유지보수 가능하게 만드는 개발자로 기여하고 싶습니다</a:t>
            </a:r>
            <a:r>
              <a:rPr lang="en-US" altLang="ko-KR" sz="1350" b="1" smtClean="0">
                <a:solidFill>
                  <a:srgbClr val="FFFDF9"/>
                </a:solidFill>
                <a:latin typeface="Malgun Gothic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350" b="1">
              <a:solidFill>
                <a:srgbClr val="FFFDF9"/>
              </a:solidFill>
              <a:latin typeface="Malgun Gothic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497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4213</Words>
  <Application>Microsoft Office PowerPoint</Application>
  <PresentationFormat>사용자 지정</PresentationFormat>
  <Paragraphs>626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0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2026-04-01T07:43:04Z</dcterms:created>
  <dcterms:modified xsi:type="dcterms:W3CDTF">2026-04-01T07:43:04Z</dcterms:modified>
</cp:coreProperties>
</file>