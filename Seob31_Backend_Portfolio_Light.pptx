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328A2F-B863-941C-C359-6F5A1C80F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94501C-33F7-08EB-1822-D4886508C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273863-9A23-14DB-F67C-1B29C8273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E977-15CE-40AB-9AAF-C02F7CE09516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17901D-64F6-9020-7E1C-7BAB549AE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B178A4-394E-6F29-992E-D1ED4435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65C8-20C5-4A62-B2DB-6DF81FC75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130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C3944-4088-C4DC-EA73-A3DD6552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77D198-493E-CF26-0D32-4330A27F1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91ACE2-F2CF-5AFE-F220-4F73EA0EC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E977-15CE-40AB-9AAF-C02F7CE09516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0F2D6E-2806-F9A9-4E7D-9C6AA0DD8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3B61F3-A123-E9F7-A981-F0C2ACEF6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65C8-20C5-4A62-B2DB-6DF81FC75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615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C63331-8E7D-D8A6-4FB9-A13C4019E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DD2108-567F-29A7-8A0E-126B2342A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22A57D-75AB-0B5C-0A8F-BCFAB3213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E977-15CE-40AB-9AAF-C02F7CE09516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CA82B8-4944-E10B-93B7-3D929E0EB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101E55-FD5B-D8DD-ABAF-9FE10C735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65C8-20C5-4A62-B2DB-6DF81FC75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829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62B02B-9D99-0369-3254-7A3A65EC8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CB569F-F680-9C71-BE3F-31FB424FF5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37BC57-CDF4-55BA-EF7B-6604EEDBB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82443C-44FE-CC42-4D94-519561FEC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E977-15CE-40AB-9AAF-C02F7CE09516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12EEF4-4361-9E06-54C2-8CD2EC059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B0B2B8-C77E-197A-1AFC-0807EC41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65C8-20C5-4A62-B2DB-6DF81FC75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741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5B3E38-65B1-1923-369C-0BA512392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E748E4-30FE-282B-C5A4-095F427D8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CB93D0-5FAB-D2A1-D0F7-0B39B11E3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F1F9D4-370A-EAE1-018F-DC29D0996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B13DA4-4FDF-481C-1EE3-E67B1C81EE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5AF2DED-7991-0DF9-6C28-38117CEF4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E977-15CE-40AB-9AAF-C02F7CE09516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F7A4F67-9AFF-2DBE-6E59-4741E8788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A8EE248-F2DA-23E5-D3CF-ACFC2043F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65C8-20C5-4A62-B2DB-6DF81FC75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525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074298-CD2B-4F8B-58D4-DEDD2D6E5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F0AC9E-A688-5522-5696-5871B19ED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E977-15CE-40AB-9AAF-C02F7CE09516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8E39008-D1B4-CA8C-E27E-13E73409E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E2DA12-4C4C-614B-E5F0-D320918E2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65C8-20C5-4A62-B2DB-6DF81FC75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668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2F90B37-E660-2E58-7317-6010BBCEA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E977-15CE-40AB-9AAF-C02F7CE09516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C0171E6-0134-E884-1EC5-2FC356639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D2ABA6-523A-8D2D-E896-3C5C73795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65C8-20C5-4A62-B2DB-6DF81FC75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41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D18F76-509D-D382-8946-C46C37DA5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E385B2-AE19-7392-DCE0-91CEC4ED3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B6F9A5-AAE7-D4B9-1B66-75369A091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6F5225-B625-D24D-4430-E3CA921D5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E977-15CE-40AB-9AAF-C02F7CE09516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ED7A70-A3D1-1272-15B3-AC4E9430D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F3EE6F-64F9-A506-7237-5BCB1CC81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65C8-20C5-4A62-B2DB-6DF81FC75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6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914551-66FE-5E3F-45E5-63423FFF8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D74C42-6364-801E-31AF-E8EF33675F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4ADB8F-FCA7-4244-86F2-084D6FAC9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7C662F-61C2-0A5B-36AF-021F6F148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E977-15CE-40AB-9AAF-C02F7CE09516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2B2D30-FF9F-F332-48F4-4B50864DF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4B58E4-9D9B-65E4-B80D-C8F291C6E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65C8-20C5-4A62-B2DB-6DF81FC75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673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1F1D57-2FD6-186E-A3CD-66D47CC8A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D63130-09F5-A6A1-88F8-8E58986D5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13A3EE-9DA6-71CB-93B5-18A0CDE10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E977-15CE-40AB-9AAF-C02F7CE09516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F80B1C-49DC-4360-89D5-63C7DA3E3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6B48F7-2A0B-78F0-5BD5-9BBF7742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65C8-20C5-4A62-B2DB-6DF81FC75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839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54F5583-2D90-7AF1-AC35-5CE717184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3857FC-2AEA-5953-126F-77E3A974B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70381A-E160-35D2-EB2C-802FE1B9C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E977-15CE-40AB-9AAF-C02F7CE09516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6146D1-B03F-E4AF-3336-D90313FD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70D714-1C2B-BBC9-98C3-35161A866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F65C8-20C5-4A62-B2DB-6DF81FC75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374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5245902-D623-548D-F76A-50273AA16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7BDC02-54D8-81A2-A36F-184EFE0DF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0A9D32-525B-BA26-FE48-0317472E05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B5E977-15CE-40AB-9AAF-C02F7CE09516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B5D298-DFC4-3588-098E-EAD9372BA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FC8877-D878-A413-DF5A-BA589D7560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6F65C8-20C5-4A62-B2DB-6DF81FC75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3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839E2CA-3DD7-2EAC-516D-63600B33A2B0}"/>
              </a:ext>
            </a:extLst>
          </p:cNvPr>
          <p:cNvSpPr/>
          <p:nvPr/>
        </p:nvSpPr>
        <p:spPr>
          <a:xfrm>
            <a:off x="355600" y="330200"/>
            <a:ext cx="11480800" cy="6197600"/>
          </a:xfrm>
          <a:prstGeom prst="rect">
            <a:avLst/>
          </a:prstGeom>
          <a:solidFill>
            <a:srgbClr val="EDF6F1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2E50BF-C044-00C5-1D5A-01B5636A88B9}"/>
              </a:ext>
            </a:extLst>
          </p:cNvPr>
          <p:cNvSpPr txBox="1"/>
          <p:nvPr/>
        </p:nvSpPr>
        <p:spPr>
          <a:xfrm>
            <a:off x="787400" y="9144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1F7A63"/>
                </a:solidFill>
                <a:latin typeface="Malgun Gothic" panose="020B0503020000020004" pitchFamily="50" charset="-127"/>
              </a:rPr>
              <a:t>BACK-END DEVELOPER PORTFOLIO</a:t>
            </a:r>
            <a:endParaRPr lang="ko-KR" altLang="en-US" sz="1100" b="1">
              <a:solidFill>
                <a:srgbClr val="1F7A63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2660D-6785-853F-A433-48A1C6E2EBA9}"/>
              </a:ext>
            </a:extLst>
          </p:cNvPr>
          <p:cNvSpPr txBox="1"/>
          <p:nvPr/>
        </p:nvSpPr>
        <p:spPr>
          <a:xfrm>
            <a:off x="762000" y="1371600"/>
            <a:ext cx="68580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17352E"/>
                </a:solidFill>
                <a:latin typeface="Malgun Gothic" panose="020B0503020000020004" pitchFamily="50" charset="-127"/>
              </a:rPr>
              <a:t>서비스 개발부터 운영 안정화까지 이어가는 백엔드 개발자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4E296C-E428-0D0D-894E-5051996F4469}"/>
              </a:ext>
            </a:extLst>
          </p:cNvPr>
          <p:cNvSpPr txBox="1"/>
          <p:nvPr/>
        </p:nvSpPr>
        <p:spPr>
          <a:xfrm>
            <a:off x="762000" y="2844800"/>
            <a:ext cx="6350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>
                <a:solidFill>
                  <a:srgbClr val="5D6D69"/>
                </a:solidFill>
                <a:latin typeface="Malgun Gothic" panose="020B0503020000020004" pitchFamily="50" charset="-127"/>
              </a:rPr>
              <a:t>Java / Spring </a:t>
            </a:r>
            <a:r>
              <a:rPr lang="ko-KR" altLang="en-US" sz="1500">
                <a:solidFill>
                  <a:srgbClr val="5D6D69"/>
                </a:solidFill>
                <a:latin typeface="Malgun Gothic" panose="020B0503020000020004" pitchFamily="50" charset="-127"/>
              </a:rPr>
              <a:t>기반 </a:t>
            </a:r>
            <a:r>
              <a:rPr lang="en-US" altLang="ko-KR" sz="1500">
                <a:solidFill>
                  <a:srgbClr val="5D6D69"/>
                </a:solidFill>
                <a:latin typeface="Malgun Gothic" panose="020B0503020000020004" pitchFamily="50" charset="-127"/>
              </a:rPr>
              <a:t>Backend </a:t>
            </a:r>
            <a:r>
              <a:rPr lang="ko-KR" altLang="en-US" sz="1500">
                <a:solidFill>
                  <a:srgbClr val="5D6D69"/>
                </a:solidFill>
                <a:latin typeface="Malgun Gothic" panose="020B0503020000020004" pitchFamily="50" charset="-127"/>
              </a:rPr>
              <a:t>서버 개발을 중심으로 </a:t>
            </a:r>
            <a:r>
              <a:rPr lang="en-US" altLang="ko-KR" sz="1500">
                <a:solidFill>
                  <a:srgbClr val="5D6D69"/>
                </a:solidFill>
                <a:latin typeface="Malgun Gothic" panose="020B0503020000020004" pitchFamily="50" charset="-127"/>
              </a:rPr>
              <a:t>API </a:t>
            </a:r>
            <a:r>
              <a:rPr lang="ko-KR" altLang="en-US" sz="1500">
                <a:solidFill>
                  <a:srgbClr val="5D6D69"/>
                </a:solidFill>
                <a:latin typeface="Malgun Gothic" panose="020B0503020000020004" pitchFamily="50" charset="-127"/>
              </a:rPr>
              <a:t>연계</a:t>
            </a:r>
            <a:r>
              <a:rPr lang="en-US" altLang="ko-KR" sz="150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5D6D69"/>
                </a:solidFill>
                <a:latin typeface="Malgun Gothic" panose="020B0503020000020004" pitchFamily="50" charset="-127"/>
              </a:rPr>
              <a:t>운영 안정화</a:t>
            </a:r>
            <a:r>
              <a:rPr lang="en-US" altLang="ko-KR" sz="150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>
                <a:solidFill>
                  <a:srgbClr val="5D6D69"/>
                </a:solidFill>
                <a:latin typeface="Malgun Gothic" panose="020B0503020000020004" pitchFamily="50" charset="-127"/>
              </a:rPr>
              <a:t>모니터링 및 장애 대응까지 이어서 맡아왔습니다</a:t>
            </a:r>
            <a:r>
              <a:rPr lang="en-US" altLang="ko-KR" sz="1500">
                <a:solidFill>
                  <a:srgbClr val="5D6D69"/>
                </a:solidFill>
                <a:latin typeface="Malgun Gothic" panose="020B0503020000020004" pitchFamily="50" charset="-127"/>
              </a:rPr>
              <a:t>. Linux, Docker, Jenkins, AWS </a:t>
            </a:r>
            <a:r>
              <a:rPr lang="ko-KR" altLang="en-US" sz="1500">
                <a:solidFill>
                  <a:srgbClr val="5D6D69"/>
                </a:solidFill>
                <a:latin typeface="Malgun Gothic" panose="020B0503020000020004" pitchFamily="50" charset="-127"/>
              </a:rPr>
              <a:t>환경에서 </a:t>
            </a:r>
            <a:r>
              <a:rPr lang="en-US" altLang="ko-KR" sz="1500">
                <a:solidFill>
                  <a:srgbClr val="5D6D69"/>
                </a:solidFill>
                <a:latin typeface="Malgun Gothic" panose="020B0503020000020004" pitchFamily="50" charset="-127"/>
              </a:rPr>
              <a:t>DB </a:t>
            </a:r>
            <a:r>
              <a:rPr lang="ko-KR" altLang="en-US" sz="1500">
                <a:solidFill>
                  <a:srgbClr val="5D6D69"/>
                </a:solidFill>
                <a:latin typeface="Malgun Gothic" panose="020B0503020000020004" pitchFamily="50" charset="-127"/>
              </a:rPr>
              <a:t>처리와 구조 이해를 바탕으로 실제 서비스 운영 품질을 높이는 데 강점이 있습니다</a:t>
            </a:r>
            <a:r>
              <a:rPr lang="en-US" altLang="ko-KR" sz="150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50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406F22-3FC9-FA61-AA10-153DC4FA2B24}"/>
              </a:ext>
            </a:extLst>
          </p:cNvPr>
          <p:cNvSpPr txBox="1"/>
          <p:nvPr/>
        </p:nvSpPr>
        <p:spPr>
          <a:xfrm>
            <a:off x="762000" y="4876800"/>
            <a:ext cx="49530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50">
                <a:solidFill>
                  <a:srgbClr val="17352E"/>
                </a:solidFill>
                <a:latin typeface="Malgun Gothic" panose="020B0503020000020004" pitchFamily="50" charset="-127"/>
              </a:rPr>
              <a:t>Java / Spring Backend
API Integration · Monitoring · Trouble Shooting
Linux / Docker / Jenkins · AWS · DB</a:t>
            </a:r>
            <a:endParaRPr lang="ko-KR" altLang="en-US" sz="1250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CD38F6-1811-20D0-5EFF-B192F07B2DD7}"/>
              </a:ext>
            </a:extLst>
          </p:cNvPr>
          <p:cNvSpPr/>
          <p:nvPr/>
        </p:nvSpPr>
        <p:spPr>
          <a:xfrm>
            <a:off x="8255000" y="1117600"/>
            <a:ext cx="2794000" cy="37338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FCE3AD9-3CB2-3799-9FF3-7D7FB76A3E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0" y="1599142"/>
            <a:ext cx="2794000" cy="27707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3A9710-3047-5385-27CD-245B81EE12AF}"/>
              </a:ext>
            </a:extLst>
          </p:cNvPr>
          <p:cNvSpPr txBox="1"/>
          <p:nvPr/>
        </p:nvSpPr>
        <p:spPr>
          <a:xfrm>
            <a:off x="8255000" y="5080000"/>
            <a:ext cx="2794000" cy="338554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17352E"/>
                </a:solidFill>
                <a:latin typeface="Malgun Gothic" panose="020B0503020000020004" pitchFamily="50" charset="-127"/>
              </a:rPr>
              <a:t>seob31.github.io</a:t>
            </a:r>
            <a:endParaRPr lang="ko-KR" altLang="en-US" sz="12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98D6547-B913-1DFC-61B9-1F26E5E83889}"/>
              </a:ext>
            </a:extLst>
          </p:cNvPr>
          <p:cNvCxnSpPr/>
          <p:nvPr/>
        </p:nvCxnSpPr>
        <p:spPr>
          <a:xfrm>
            <a:off x="533400" y="6477000"/>
            <a:ext cx="11099800" cy="0"/>
          </a:xfrm>
          <a:prstGeom prst="line">
            <a:avLst/>
          </a:prstGeom>
          <a:ln w="12700">
            <a:solidFill>
              <a:srgbClr val="D8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78A8B11-5CAC-4AFC-8A12-BA64F6FE501D}"/>
              </a:ext>
            </a:extLst>
          </p:cNvPr>
          <p:cNvSpPr txBox="1"/>
          <p:nvPr/>
        </p:nvSpPr>
        <p:spPr>
          <a:xfrm>
            <a:off x="533400" y="6527800"/>
            <a:ext cx="4445000" cy="28469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850">
                <a:solidFill>
                  <a:srgbClr val="5D6D69"/>
                </a:solidFill>
                <a:latin typeface="Malgun Gothic" panose="020B0503020000020004" pitchFamily="50" charset="-127"/>
              </a:rPr>
              <a:t>Portfolio generated from seob31.github.io</a:t>
            </a:r>
            <a:endParaRPr lang="ko-KR" altLang="en-US" sz="85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C853EA-4E33-CA2C-777E-4B7E103F625B}"/>
              </a:ext>
            </a:extLst>
          </p:cNvPr>
          <p:cNvSpPr txBox="1"/>
          <p:nvPr/>
        </p:nvSpPr>
        <p:spPr>
          <a:xfrm>
            <a:off x="11176000" y="6527800"/>
            <a:ext cx="457200" cy="28469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pPr algn="r"/>
            <a:r>
              <a:rPr lang="en-US" altLang="ko-KR" sz="850">
                <a:solidFill>
                  <a:srgbClr val="5D6D69"/>
                </a:solidFill>
                <a:latin typeface="Malgun Gothic" panose="020B0503020000020004" pitchFamily="50" charset="-127"/>
              </a:rPr>
              <a:t>1</a:t>
            </a:r>
            <a:endParaRPr lang="ko-KR" altLang="en-US" sz="85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993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A30F36-EABC-2848-B471-712705BA082E}"/>
              </a:ext>
            </a:extLst>
          </p:cNvPr>
          <p:cNvSpPr txBox="1"/>
          <p:nvPr/>
        </p:nvSpPr>
        <p:spPr>
          <a:xfrm>
            <a:off x="533400" y="304800"/>
            <a:ext cx="7874000" cy="523220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About</a:t>
            </a:r>
            <a:endParaRPr lang="ko-KR" altLang="en-US" sz="24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51CA30-EDE6-64E3-1596-89C4F495E3F7}"/>
              </a:ext>
            </a:extLst>
          </p:cNvPr>
          <p:cNvSpPr txBox="1"/>
          <p:nvPr/>
        </p:nvSpPr>
        <p:spPr>
          <a:xfrm>
            <a:off x="558800" y="736600"/>
            <a:ext cx="7112000" cy="315471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Java / Spring Backend · API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연계 </a:t>
            </a:r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운영 안정화 </a:t>
            </a:r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· AWS · DB · Trouble Shooting</a:t>
            </a:r>
            <a:endParaRPr lang="ko-KR" altLang="en-US" sz="1050">
              <a:solidFill>
                <a:srgbClr val="1F7A63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DBB9626-AD25-0AEC-0A82-3D7E3E370B4B}"/>
              </a:ext>
            </a:extLst>
          </p:cNvPr>
          <p:cNvCxnSpPr/>
          <p:nvPr/>
        </p:nvCxnSpPr>
        <p:spPr>
          <a:xfrm>
            <a:off x="533400" y="1092200"/>
            <a:ext cx="11099800" cy="0"/>
          </a:xfrm>
          <a:prstGeom prst="line">
            <a:avLst/>
          </a:prstGeom>
          <a:ln w="17780">
            <a:solidFill>
              <a:srgbClr val="D8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2C760D-8D05-B9A3-DD44-CC7748D88B2F}"/>
              </a:ext>
            </a:extLst>
          </p:cNvPr>
          <p:cNvSpPr/>
          <p:nvPr/>
        </p:nvSpPr>
        <p:spPr>
          <a:xfrm>
            <a:off x="533400" y="1320800"/>
            <a:ext cx="5334000" cy="21844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9EFF74-3EF3-1B72-0979-0A362D5BA4BB}"/>
              </a:ext>
            </a:extLst>
          </p:cNvPr>
          <p:cNvSpPr txBox="1"/>
          <p:nvPr/>
        </p:nvSpPr>
        <p:spPr>
          <a:xfrm>
            <a:off x="685800" y="1473200"/>
            <a:ext cx="2032000" cy="369332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Career</a:t>
            </a:r>
            <a:endParaRPr lang="ko-KR" altLang="en-US" sz="14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1E225D-D08B-0C0F-E766-0B29BD118CEA}"/>
              </a:ext>
            </a:extLst>
          </p:cNvPr>
          <p:cNvSpPr txBox="1"/>
          <p:nvPr/>
        </p:nvSpPr>
        <p:spPr>
          <a:xfrm>
            <a:off x="685800" y="1828800"/>
            <a:ext cx="4953000" cy="1532727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Inzent (2023.09 ~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현재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)
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백엔드 중심 풀스택 개발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제품 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QA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메인 담당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클라우드 관리
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MarkAny (2019.11 ~ 2023.05)
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시스템 설계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백엔드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프론트엔드 개발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AWS·IDC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운영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SRE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대응
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NextKey (2018.01 ~ 2019.10)
Java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백엔드 개발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테스트 및 문서화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현장 커뮤니케이션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FD2235-57CC-B090-2773-6E2FCD81DB20}"/>
              </a:ext>
            </a:extLst>
          </p:cNvPr>
          <p:cNvSpPr/>
          <p:nvPr/>
        </p:nvSpPr>
        <p:spPr>
          <a:xfrm>
            <a:off x="6172200" y="1320800"/>
            <a:ext cx="5461000" cy="21844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40F511-7CAE-FC5B-EA44-9F2CD44EAA4B}"/>
              </a:ext>
            </a:extLst>
          </p:cNvPr>
          <p:cNvSpPr txBox="1"/>
          <p:nvPr/>
        </p:nvSpPr>
        <p:spPr>
          <a:xfrm>
            <a:off x="6324600" y="1473200"/>
            <a:ext cx="2794000" cy="369332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Work Style / Strength</a:t>
            </a:r>
            <a:endParaRPr lang="ko-KR" altLang="en-US" sz="14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782CDF-CE7E-20E6-3620-86C476FE1344}"/>
              </a:ext>
            </a:extLst>
          </p:cNvPr>
          <p:cNvSpPr txBox="1"/>
          <p:nvPr/>
        </p:nvSpPr>
        <p:spPr>
          <a:xfrm>
            <a:off x="6324600" y="1828800"/>
            <a:ext cx="5016500" cy="843308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기능 구현에 그치지 않고 실제 운영 환경까지 함께 보는 개발 방식을 지향합니다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연계 시스템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데이터 흐름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장애 포인트를 함께 살피며 운영 안정화와 서비스 품질 개선에 집중해왔습니다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개발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배포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모니터링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장애 대응이 하나의 흐름으로 이어질 때 더 좋은 백엔드가 된다고 생각합니다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12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9825C5-B23C-C60B-974A-D9B9B1E48B1B}"/>
              </a:ext>
            </a:extLst>
          </p:cNvPr>
          <p:cNvSpPr/>
          <p:nvPr/>
        </p:nvSpPr>
        <p:spPr>
          <a:xfrm>
            <a:off x="533400" y="3810000"/>
            <a:ext cx="3429000" cy="21336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01EDDA0-7F72-8985-9847-95E81816F7AC}"/>
              </a:ext>
            </a:extLst>
          </p:cNvPr>
          <p:cNvSpPr/>
          <p:nvPr/>
        </p:nvSpPr>
        <p:spPr>
          <a:xfrm>
            <a:off x="4368800" y="3810000"/>
            <a:ext cx="3429000" cy="21336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AC1CE49-8180-3F19-CF02-8B0B2845CAA8}"/>
              </a:ext>
            </a:extLst>
          </p:cNvPr>
          <p:cNvSpPr/>
          <p:nvPr/>
        </p:nvSpPr>
        <p:spPr>
          <a:xfrm>
            <a:off x="8204200" y="3810000"/>
            <a:ext cx="3429000" cy="21336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72EDF0-C05D-A9B2-B262-76D4521280E0}"/>
              </a:ext>
            </a:extLst>
          </p:cNvPr>
          <p:cNvSpPr txBox="1"/>
          <p:nvPr/>
        </p:nvSpPr>
        <p:spPr>
          <a:xfrm>
            <a:off x="685800" y="3987800"/>
            <a:ext cx="1397000" cy="35394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300" b="1">
                <a:solidFill>
                  <a:srgbClr val="17352E"/>
                </a:solidFill>
                <a:latin typeface="Malgun Gothic" panose="020B0503020000020004" pitchFamily="50" charset="-127"/>
              </a:rPr>
              <a:t>Backend</a:t>
            </a:r>
            <a:endParaRPr lang="ko-KR" altLang="en-US" sz="13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444544-7011-B070-2371-B60971220391}"/>
              </a:ext>
            </a:extLst>
          </p:cNvPr>
          <p:cNvSpPr txBox="1"/>
          <p:nvPr/>
        </p:nvSpPr>
        <p:spPr>
          <a:xfrm>
            <a:off x="685800" y="4292600"/>
            <a:ext cx="2997200" cy="652486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080">
                <a:solidFill>
                  <a:srgbClr val="5D6D69"/>
                </a:solidFill>
                <a:latin typeface="Malgun Gothic" panose="020B0503020000020004" pitchFamily="50" charset="-127"/>
              </a:rPr>
              <a:t>Java, Spring Framework, Spring Boot, Spring WebFlux, JPA, MyBatis, Spring Batch, Kafka, Quartz, JWT</a:t>
            </a:r>
            <a:endParaRPr lang="ko-KR" altLang="en-US" sz="108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B361D8-D227-C38F-26E0-CF8C12450ADF}"/>
              </a:ext>
            </a:extLst>
          </p:cNvPr>
          <p:cNvSpPr txBox="1"/>
          <p:nvPr/>
        </p:nvSpPr>
        <p:spPr>
          <a:xfrm>
            <a:off x="4521200" y="3987800"/>
            <a:ext cx="1524000" cy="35394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300" b="1">
                <a:solidFill>
                  <a:srgbClr val="17352E"/>
                </a:solidFill>
                <a:latin typeface="Malgun Gothic" panose="020B0503020000020004" pitchFamily="50" charset="-127"/>
              </a:rPr>
              <a:t>DB / API</a:t>
            </a:r>
            <a:endParaRPr lang="ko-KR" altLang="en-US" sz="13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D729E9-904A-81F3-DCDD-D5ED473C70B8}"/>
              </a:ext>
            </a:extLst>
          </p:cNvPr>
          <p:cNvSpPr txBox="1"/>
          <p:nvPr/>
        </p:nvSpPr>
        <p:spPr>
          <a:xfrm>
            <a:off x="4521200" y="4292600"/>
            <a:ext cx="2997200" cy="984885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080">
                <a:solidFill>
                  <a:srgbClr val="5D6D69"/>
                </a:solidFill>
                <a:latin typeface="Malgun Gothic" panose="020B0503020000020004" pitchFamily="50" charset="-127"/>
              </a:rPr>
              <a:t>Oracle, PostgreSQL, MariaDB, MySQL, Redis, H2, Tibero, MSSQL
REST API, </a:t>
            </a:r>
            <a:r>
              <a:rPr lang="ko-KR" altLang="en-US" sz="1080">
                <a:solidFill>
                  <a:srgbClr val="5D6D69"/>
                </a:solidFill>
                <a:latin typeface="Malgun Gothic" panose="020B0503020000020004" pitchFamily="50" charset="-127"/>
              </a:rPr>
              <a:t>연계 인터페이스</a:t>
            </a:r>
            <a:r>
              <a:rPr lang="en-US" altLang="ko-KR" sz="108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80">
                <a:solidFill>
                  <a:srgbClr val="5D6D69"/>
                </a:solidFill>
                <a:latin typeface="Malgun Gothic" panose="020B0503020000020004" pitchFamily="50" charset="-127"/>
              </a:rPr>
              <a:t>암호화 통신</a:t>
            </a:r>
            <a:r>
              <a:rPr lang="en-US" altLang="ko-KR" sz="108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80">
                <a:solidFill>
                  <a:srgbClr val="5D6D69"/>
                </a:solidFill>
                <a:latin typeface="Malgun Gothic" panose="020B0503020000020004" pitchFamily="50" charset="-127"/>
              </a:rPr>
              <a:t>배치</a:t>
            </a:r>
            <a:r>
              <a:rPr lang="en-US" altLang="ko-KR" sz="108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80">
                <a:solidFill>
                  <a:srgbClr val="5D6D69"/>
                </a:solidFill>
                <a:latin typeface="Malgun Gothic" panose="020B0503020000020004" pitchFamily="50" charset="-127"/>
              </a:rPr>
              <a:t>데이터 구조 분석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78005F-60E4-048B-ABE6-448312CC7F69}"/>
              </a:ext>
            </a:extLst>
          </p:cNvPr>
          <p:cNvSpPr txBox="1"/>
          <p:nvPr/>
        </p:nvSpPr>
        <p:spPr>
          <a:xfrm>
            <a:off x="8356600" y="3987800"/>
            <a:ext cx="2286000" cy="35394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300" b="1">
                <a:solidFill>
                  <a:srgbClr val="17352E"/>
                </a:solidFill>
                <a:latin typeface="Malgun Gothic" panose="020B0503020000020004" pitchFamily="50" charset="-127"/>
              </a:rPr>
              <a:t>Infra / Operations</a:t>
            </a:r>
            <a:endParaRPr lang="ko-KR" altLang="en-US" sz="13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C6FD5B-603C-B828-96AA-49E18525D84C}"/>
              </a:ext>
            </a:extLst>
          </p:cNvPr>
          <p:cNvSpPr txBox="1"/>
          <p:nvPr/>
        </p:nvSpPr>
        <p:spPr>
          <a:xfrm>
            <a:off x="8356600" y="4292600"/>
            <a:ext cx="2997200" cy="818686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080">
                <a:solidFill>
                  <a:srgbClr val="5D6D69"/>
                </a:solidFill>
                <a:latin typeface="Malgun Gothic" panose="020B0503020000020004" pitchFamily="50" charset="-127"/>
              </a:rPr>
              <a:t>AWS, Docker, Jenkins, HAProxy, Shell Script, Linux, IDC </a:t>
            </a:r>
            <a:r>
              <a:rPr lang="ko-KR" altLang="en-US" sz="1080">
                <a:solidFill>
                  <a:srgbClr val="5D6D69"/>
                </a:solidFill>
                <a:latin typeface="Malgun Gothic" panose="020B0503020000020004" pitchFamily="50" charset="-127"/>
              </a:rPr>
              <a:t>운영</a:t>
            </a:r>
            <a:r>
              <a:rPr lang="en-US" altLang="ko-KR" sz="108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80">
                <a:solidFill>
                  <a:srgbClr val="5D6D69"/>
                </a:solidFill>
                <a:latin typeface="Malgun Gothic" panose="020B0503020000020004" pitchFamily="50" charset="-127"/>
              </a:rPr>
              <a:t>온프레미스 배포</a:t>
            </a:r>
            <a:r>
              <a:rPr lang="en-US" altLang="ko-KR" sz="1080">
                <a:solidFill>
                  <a:srgbClr val="5D6D69"/>
                </a:solidFill>
                <a:latin typeface="Malgun Gothic" panose="020B0503020000020004" pitchFamily="50" charset="-127"/>
              </a:rPr>
              <a:t>, MSA
</a:t>
            </a:r>
            <a:r>
              <a:rPr lang="ko-KR" altLang="en-US" sz="1080">
                <a:solidFill>
                  <a:srgbClr val="5D6D69"/>
                </a:solidFill>
                <a:latin typeface="Malgun Gothic" panose="020B0503020000020004" pitchFamily="50" charset="-127"/>
              </a:rPr>
              <a:t>모니터링</a:t>
            </a:r>
            <a:r>
              <a:rPr lang="en-US" altLang="ko-KR" sz="108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80">
                <a:solidFill>
                  <a:srgbClr val="5D6D69"/>
                </a:solidFill>
                <a:latin typeface="Malgun Gothic" panose="020B0503020000020004" pitchFamily="50" charset="-127"/>
              </a:rPr>
              <a:t>장애 대응</a:t>
            </a:r>
            <a:r>
              <a:rPr lang="en-US" altLang="ko-KR" sz="1080">
                <a:solidFill>
                  <a:srgbClr val="5D6D69"/>
                </a:solidFill>
                <a:latin typeface="Malgun Gothic" panose="020B0503020000020004" pitchFamily="50" charset="-127"/>
              </a:rPr>
              <a:t>, Trouble Shooting</a:t>
            </a:r>
            <a:endParaRPr lang="ko-KR" altLang="en-US" sz="108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0189A2A-9AC1-7D98-4BEE-8987ECF3D39E}"/>
              </a:ext>
            </a:extLst>
          </p:cNvPr>
          <p:cNvCxnSpPr/>
          <p:nvPr/>
        </p:nvCxnSpPr>
        <p:spPr>
          <a:xfrm>
            <a:off x="533400" y="6477000"/>
            <a:ext cx="11099800" cy="0"/>
          </a:xfrm>
          <a:prstGeom prst="line">
            <a:avLst/>
          </a:prstGeom>
          <a:ln w="12700">
            <a:solidFill>
              <a:srgbClr val="D8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19125AC-370B-3056-D626-7FC607C21118}"/>
              </a:ext>
            </a:extLst>
          </p:cNvPr>
          <p:cNvSpPr txBox="1"/>
          <p:nvPr/>
        </p:nvSpPr>
        <p:spPr>
          <a:xfrm>
            <a:off x="533400" y="6527800"/>
            <a:ext cx="4445000" cy="28469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850">
                <a:solidFill>
                  <a:srgbClr val="5D6D69"/>
                </a:solidFill>
                <a:latin typeface="Malgun Gothic" panose="020B0503020000020004" pitchFamily="50" charset="-127"/>
              </a:rPr>
              <a:t>Portfolio generated from seob31.github.io</a:t>
            </a:r>
            <a:endParaRPr lang="ko-KR" altLang="en-US" sz="85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2986BC-27A4-4AA2-A862-096D88A4DC6E}"/>
              </a:ext>
            </a:extLst>
          </p:cNvPr>
          <p:cNvSpPr txBox="1"/>
          <p:nvPr/>
        </p:nvSpPr>
        <p:spPr>
          <a:xfrm>
            <a:off x="11176000" y="6527800"/>
            <a:ext cx="457200" cy="28469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pPr algn="r"/>
            <a:r>
              <a:rPr lang="en-US" altLang="ko-KR" sz="850">
                <a:solidFill>
                  <a:srgbClr val="5D6D69"/>
                </a:solidFill>
                <a:latin typeface="Malgun Gothic" panose="020B0503020000020004" pitchFamily="50" charset="-127"/>
              </a:rPr>
              <a:t>2</a:t>
            </a:r>
            <a:endParaRPr lang="ko-KR" altLang="en-US" sz="85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5234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1B8A3E-918A-11B6-7517-F3EE34FA7422}"/>
              </a:ext>
            </a:extLst>
          </p:cNvPr>
          <p:cNvSpPr txBox="1"/>
          <p:nvPr/>
        </p:nvSpPr>
        <p:spPr>
          <a:xfrm>
            <a:off x="533400" y="304800"/>
            <a:ext cx="7874000" cy="892552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eCross | Java / Spring Backend · API </a:t>
            </a:r>
            <a:r>
              <a:rPr lang="ko-KR" altLang="en-US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연계 </a:t>
            </a:r>
            <a:r>
              <a:rPr lang="en-US" altLang="ko-KR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운영 안정화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AE4A34-08CD-01D5-B2FC-1B2001A313A4}"/>
              </a:ext>
            </a:extLst>
          </p:cNvPr>
          <p:cNvSpPr txBox="1"/>
          <p:nvPr/>
        </p:nvSpPr>
        <p:spPr>
          <a:xfrm>
            <a:off x="558800" y="736600"/>
            <a:ext cx="7112000" cy="315471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2023.09 ~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현재 </a:t>
            </a:r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인터페이스 처리 </a:t>
            </a:r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모니터링 </a:t>
            </a:r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장애 대응 </a:t>
            </a:r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· QA · AWS</a:t>
            </a:r>
            <a:endParaRPr lang="ko-KR" altLang="en-US" sz="1050">
              <a:solidFill>
                <a:srgbClr val="1F7A63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2FE09EE-6857-BEA9-B55F-B089B6A1FA1B}"/>
              </a:ext>
            </a:extLst>
          </p:cNvPr>
          <p:cNvCxnSpPr/>
          <p:nvPr/>
        </p:nvCxnSpPr>
        <p:spPr>
          <a:xfrm>
            <a:off x="533400" y="1092200"/>
            <a:ext cx="11099800" cy="0"/>
          </a:xfrm>
          <a:prstGeom prst="line">
            <a:avLst/>
          </a:prstGeom>
          <a:ln w="17780">
            <a:solidFill>
              <a:srgbClr val="D8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D4114C8-19EC-C89C-06B6-FDA1F3C7E697}"/>
              </a:ext>
            </a:extLst>
          </p:cNvPr>
          <p:cNvSpPr txBox="1"/>
          <p:nvPr/>
        </p:nvSpPr>
        <p:spPr>
          <a:xfrm>
            <a:off x="533400" y="1320800"/>
            <a:ext cx="5461000" cy="35394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300" b="1">
                <a:solidFill>
                  <a:srgbClr val="17352E"/>
                </a:solidFill>
                <a:latin typeface="Malgun Gothic" panose="020B0503020000020004" pitchFamily="50" charset="-127"/>
              </a:rPr>
              <a:t>Overview</a:t>
            </a:r>
            <a:endParaRPr lang="ko-KR" altLang="en-US" sz="13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AB892E-E42F-33F0-F0E0-B11191689ECB}"/>
              </a:ext>
            </a:extLst>
          </p:cNvPr>
          <p:cNvSpPr txBox="1"/>
          <p:nvPr/>
        </p:nvSpPr>
        <p:spPr>
          <a:xfrm>
            <a:off x="533400" y="1600200"/>
            <a:ext cx="5461000" cy="67095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비즈니스 내 다양한 서비스와 애플리케이션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자원을 연결하고 통합하는 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ESB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기반 연계 솔루션입니다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메시지 기반 인터페이스 처리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ETL,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스케줄링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로그 및 모니터링 기능을 중심으로 백엔드 구조를 다듬고 운영 품질까지 함께 맡았습니다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12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B1F2E0-BAE5-CECE-536E-06875C38406F}"/>
              </a:ext>
            </a:extLst>
          </p:cNvPr>
          <p:cNvSpPr txBox="1"/>
          <p:nvPr/>
        </p:nvSpPr>
        <p:spPr>
          <a:xfrm>
            <a:off x="533400" y="2616200"/>
            <a:ext cx="5461000" cy="35394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300" b="1">
                <a:solidFill>
                  <a:srgbClr val="17352E"/>
                </a:solidFill>
                <a:latin typeface="Malgun Gothic" panose="020B0503020000020004" pitchFamily="50" charset="-127"/>
              </a:rPr>
              <a:t>Role</a:t>
            </a:r>
            <a:endParaRPr lang="ko-KR" altLang="en-US" sz="13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BFB422-9304-10D7-2DF7-D13AF13FF22F}"/>
              </a:ext>
            </a:extLst>
          </p:cNvPr>
          <p:cNvSpPr txBox="1"/>
          <p:nvPr/>
        </p:nvSpPr>
        <p:spPr>
          <a:xfrm>
            <a:off x="533400" y="2895600"/>
            <a:ext cx="5461000" cy="67095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메시지 기반 인터페이스 처리 로직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ETL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프로토타입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WebFlux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비동기 구조 개선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대용량 메시지 분할 전송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인증서 암호화 통신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시뮬레이션 및 시스템 스케줄 기능을 구현했습니다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12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26518B-5696-5B55-907B-61C017CF2DB0}"/>
              </a:ext>
            </a:extLst>
          </p:cNvPr>
          <p:cNvSpPr txBox="1"/>
          <p:nvPr/>
        </p:nvSpPr>
        <p:spPr>
          <a:xfrm>
            <a:off x="533400" y="3911600"/>
            <a:ext cx="5461000" cy="35394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300" b="1">
                <a:solidFill>
                  <a:srgbClr val="17352E"/>
                </a:solidFill>
                <a:latin typeface="Malgun Gothic" panose="020B0503020000020004" pitchFamily="50" charset="-127"/>
              </a:rPr>
              <a:t>Operations</a:t>
            </a:r>
            <a:endParaRPr lang="ko-KR" altLang="en-US" sz="13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E6E3FE-7B45-65FF-663B-0B4BA43024B8}"/>
              </a:ext>
            </a:extLst>
          </p:cNvPr>
          <p:cNvSpPr txBox="1"/>
          <p:nvPr/>
        </p:nvSpPr>
        <p:spPr>
          <a:xfrm>
            <a:off x="533400" y="4191000"/>
            <a:ext cx="5461000" cy="498598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프로젝트 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QA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를 메인으로 담당하며 모니터링 트러블슈팅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고객사 유지보수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AWS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클라우드 관리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SP/GS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및 클라우드 호환성 대응까지 수행했습니다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12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3000D81-3A98-58AA-52E3-BBDF18780FD8}"/>
              </a:ext>
            </a:extLst>
          </p:cNvPr>
          <p:cNvSpPr/>
          <p:nvPr/>
        </p:nvSpPr>
        <p:spPr>
          <a:xfrm>
            <a:off x="6604000" y="1397000"/>
            <a:ext cx="4826000" cy="11684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42F8AF-9568-A6B0-EC33-9D344845B4B7}"/>
              </a:ext>
            </a:extLst>
          </p:cNvPr>
          <p:cNvSpPr txBox="1"/>
          <p:nvPr/>
        </p:nvSpPr>
        <p:spPr>
          <a:xfrm>
            <a:off x="6858000" y="1625600"/>
            <a:ext cx="4318000" cy="892552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600" b="1">
                <a:solidFill>
                  <a:srgbClr val="17352E"/>
                </a:solidFill>
                <a:latin typeface="Malgun Gothic" panose="020B0503020000020004" pitchFamily="50" charset="-127"/>
              </a:rPr>
              <a:t>핵심 역량
</a:t>
            </a:r>
            <a:r>
              <a:rPr lang="en-US" altLang="ko-KR" sz="1600" b="1">
                <a:solidFill>
                  <a:srgbClr val="17352E"/>
                </a:solidFill>
                <a:latin typeface="Malgun Gothic" panose="020B0503020000020004" pitchFamily="50" charset="-127"/>
              </a:rPr>
              <a:t>Java / Spring Backend · API </a:t>
            </a:r>
            <a:r>
              <a:rPr lang="ko-KR" altLang="en-US" sz="1600" b="1">
                <a:solidFill>
                  <a:srgbClr val="17352E"/>
                </a:solidFill>
                <a:latin typeface="Malgun Gothic" panose="020B0503020000020004" pitchFamily="50" charset="-127"/>
              </a:rPr>
              <a:t>연계 </a:t>
            </a:r>
            <a:r>
              <a:rPr lang="en-US" altLang="ko-KR" sz="1600" b="1">
                <a:solidFill>
                  <a:srgbClr val="17352E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600" b="1">
                <a:solidFill>
                  <a:srgbClr val="17352E"/>
                </a:solidFill>
                <a:latin typeface="Malgun Gothic" panose="020B0503020000020004" pitchFamily="50" charset="-127"/>
              </a:rPr>
              <a:t>운영 안정화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6B57D6-1D1B-659F-8C4F-7B37004A35A9}"/>
              </a:ext>
            </a:extLst>
          </p:cNvPr>
          <p:cNvSpPr/>
          <p:nvPr/>
        </p:nvSpPr>
        <p:spPr>
          <a:xfrm>
            <a:off x="6604000" y="2794000"/>
            <a:ext cx="2286000" cy="14224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967688-6EAF-8139-E331-B1FAB30664E8}"/>
              </a:ext>
            </a:extLst>
          </p:cNvPr>
          <p:cNvSpPr txBox="1"/>
          <p:nvPr/>
        </p:nvSpPr>
        <p:spPr>
          <a:xfrm>
            <a:off x="6807200" y="3098800"/>
            <a:ext cx="1879600" cy="800219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모니터링
로그 관리
</a:t>
            </a:r>
            <a:r>
              <a:rPr lang="en-US" altLang="ko-KR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QA </a:t>
            </a:r>
            <a:r>
              <a:rPr lang="ko-KR" altLang="en-US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대응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9033607-DE8A-E63A-1C0B-6A529B1AB249}"/>
              </a:ext>
            </a:extLst>
          </p:cNvPr>
          <p:cNvSpPr/>
          <p:nvPr/>
        </p:nvSpPr>
        <p:spPr>
          <a:xfrm>
            <a:off x="9144000" y="2794000"/>
            <a:ext cx="2286000" cy="14224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7FB64E-4D30-2D93-7505-0482DEE37F9D}"/>
              </a:ext>
            </a:extLst>
          </p:cNvPr>
          <p:cNvSpPr txBox="1"/>
          <p:nvPr/>
        </p:nvSpPr>
        <p:spPr>
          <a:xfrm>
            <a:off x="9347200" y="3098800"/>
            <a:ext cx="1879600" cy="800219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장애 대응
</a:t>
            </a:r>
            <a:r>
              <a:rPr lang="en-US" altLang="ko-KR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Trouble Shooting
AWS </a:t>
            </a:r>
            <a:r>
              <a:rPr lang="ko-KR" altLang="en-US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운영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676570E-D4C0-25C0-B5B3-C5969EE6602F}"/>
              </a:ext>
            </a:extLst>
          </p:cNvPr>
          <p:cNvSpPr/>
          <p:nvPr/>
        </p:nvSpPr>
        <p:spPr>
          <a:xfrm>
            <a:off x="6604000" y="4445000"/>
            <a:ext cx="4826000" cy="10668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AFBEA6-5811-89A9-EF7B-B04CB14E1877}"/>
              </a:ext>
            </a:extLst>
          </p:cNvPr>
          <p:cNvSpPr txBox="1"/>
          <p:nvPr/>
        </p:nvSpPr>
        <p:spPr>
          <a:xfrm>
            <a:off x="6807200" y="4699000"/>
            <a:ext cx="4368800" cy="584775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400">
                <a:solidFill>
                  <a:srgbClr val="5D6D69"/>
                </a:solidFill>
                <a:latin typeface="Malgun Gothic" panose="020B0503020000020004" pitchFamily="50" charset="-127"/>
              </a:rPr>
              <a:t>메시지 처리</a:t>
            </a:r>
            <a:r>
              <a:rPr lang="en-US" altLang="ko-KR" sz="1400">
                <a:solidFill>
                  <a:srgbClr val="5D6D69"/>
                </a:solidFill>
                <a:latin typeface="Malgun Gothic" panose="020B0503020000020004" pitchFamily="50" charset="-127"/>
              </a:rPr>
              <a:t>, ETL, </a:t>
            </a:r>
            <a:r>
              <a:rPr lang="ko-KR" altLang="en-US" sz="1400">
                <a:solidFill>
                  <a:srgbClr val="5D6D69"/>
                </a:solidFill>
                <a:latin typeface="Malgun Gothic" panose="020B0503020000020004" pitchFamily="50" charset="-127"/>
              </a:rPr>
              <a:t>스케줄링</a:t>
            </a:r>
            <a:r>
              <a:rPr lang="en-US" altLang="ko-KR" sz="140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5D6D69"/>
                </a:solidFill>
                <a:latin typeface="Malgun Gothic" panose="020B0503020000020004" pitchFamily="50" charset="-127"/>
              </a:rPr>
              <a:t>운영 이슈 대응을 백엔드 관점에서 함께 수행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9E440A-E526-553B-1FBC-55E0154F4F67}"/>
              </a:ext>
            </a:extLst>
          </p:cNvPr>
          <p:cNvCxnSpPr/>
          <p:nvPr/>
        </p:nvCxnSpPr>
        <p:spPr>
          <a:xfrm>
            <a:off x="533400" y="6477000"/>
            <a:ext cx="11099800" cy="0"/>
          </a:xfrm>
          <a:prstGeom prst="line">
            <a:avLst/>
          </a:prstGeom>
          <a:ln w="12700">
            <a:solidFill>
              <a:srgbClr val="D8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E887AF1-E9C4-83D9-FBEE-D93B322DEC15}"/>
              </a:ext>
            </a:extLst>
          </p:cNvPr>
          <p:cNvSpPr txBox="1"/>
          <p:nvPr/>
        </p:nvSpPr>
        <p:spPr>
          <a:xfrm>
            <a:off x="533400" y="6527800"/>
            <a:ext cx="4445000" cy="28469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850">
                <a:solidFill>
                  <a:srgbClr val="5D6D69"/>
                </a:solidFill>
                <a:latin typeface="Malgun Gothic" panose="020B0503020000020004" pitchFamily="50" charset="-127"/>
              </a:rPr>
              <a:t>Portfolio generated from seob31.github.io</a:t>
            </a:r>
            <a:endParaRPr lang="ko-KR" altLang="en-US" sz="85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88C6F0-35C9-0B35-E51A-91245D46BEEE}"/>
              </a:ext>
            </a:extLst>
          </p:cNvPr>
          <p:cNvSpPr txBox="1"/>
          <p:nvPr/>
        </p:nvSpPr>
        <p:spPr>
          <a:xfrm>
            <a:off x="11176000" y="6527800"/>
            <a:ext cx="457200" cy="28469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pPr algn="r"/>
            <a:r>
              <a:rPr lang="en-US" altLang="ko-KR" sz="850">
                <a:solidFill>
                  <a:srgbClr val="5D6D69"/>
                </a:solidFill>
                <a:latin typeface="Malgun Gothic" panose="020B0503020000020004" pitchFamily="50" charset="-127"/>
              </a:rPr>
              <a:t>3</a:t>
            </a:r>
            <a:endParaRPr lang="ko-KR" altLang="en-US" sz="85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0142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D9F462-DA4B-F356-F34C-B0F74457952D}"/>
              </a:ext>
            </a:extLst>
          </p:cNvPr>
          <p:cNvSpPr txBox="1"/>
          <p:nvPr/>
        </p:nvSpPr>
        <p:spPr>
          <a:xfrm>
            <a:off x="533400" y="304800"/>
            <a:ext cx="7874000" cy="892552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eCross | Monitoring · Trouble Shooting · ETL / DB </a:t>
            </a:r>
            <a:r>
              <a:rPr lang="ko-KR" altLang="en-US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구조 개선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75E3DF-EDD8-3AF4-9210-2837D40E20EF}"/>
              </a:ext>
            </a:extLst>
          </p:cNvPr>
          <p:cNvSpPr txBox="1"/>
          <p:nvPr/>
        </p:nvSpPr>
        <p:spPr>
          <a:xfrm>
            <a:off x="558800" y="736600"/>
            <a:ext cx="7112000" cy="315471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MDC Logging · Reactor Saga · OOM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개선 </a:t>
            </a:r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· ETL · DB Validation</a:t>
            </a:r>
            <a:endParaRPr lang="ko-KR" altLang="en-US" sz="1050">
              <a:solidFill>
                <a:srgbClr val="1F7A63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31AB0FD-0462-D3B9-FF46-726A70F3BF4E}"/>
              </a:ext>
            </a:extLst>
          </p:cNvPr>
          <p:cNvCxnSpPr/>
          <p:nvPr/>
        </p:nvCxnSpPr>
        <p:spPr>
          <a:xfrm>
            <a:off x="533400" y="1092200"/>
            <a:ext cx="11099800" cy="0"/>
          </a:xfrm>
          <a:prstGeom prst="line">
            <a:avLst/>
          </a:prstGeom>
          <a:ln w="17780">
            <a:solidFill>
              <a:srgbClr val="D8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ABE12968-98FE-1014-A5B7-859F93E35637}"/>
              </a:ext>
            </a:extLst>
          </p:cNvPr>
          <p:cNvSpPr/>
          <p:nvPr/>
        </p:nvSpPr>
        <p:spPr>
          <a:xfrm>
            <a:off x="533400" y="1346200"/>
            <a:ext cx="5207000" cy="12954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384476D-017B-AEAB-4BB2-3C45A80EEAFC}"/>
              </a:ext>
            </a:extLst>
          </p:cNvPr>
          <p:cNvSpPr/>
          <p:nvPr/>
        </p:nvSpPr>
        <p:spPr>
          <a:xfrm>
            <a:off x="533400" y="2819400"/>
            <a:ext cx="5207000" cy="12954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1BBF5F0-A6AA-6BF6-C48C-497FDDFB237A}"/>
              </a:ext>
            </a:extLst>
          </p:cNvPr>
          <p:cNvSpPr/>
          <p:nvPr/>
        </p:nvSpPr>
        <p:spPr>
          <a:xfrm>
            <a:off x="533400" y="4292600"/>
            <a:ext cx="5207000" cy="12954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F8061F-E1D3-9CAA-6886-9CBABFEACD98}"/>
              </a:ext>
            </a:extLst>
          </p:cNvPr>
          <p:cNvSpPr txBox="1"/>
          <p:nvPr/>
        </p:nvSpPr>
        <p:spPr>
          <a:xfrm>
            <a:off x="685800" y="1498600"/>
            <a:ext cx="2413000" cy="350865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280" b="1">
                <a:solidFill>
                  <a:srgbClr val="17352E"/>
                </a:solidFill>
                <a:latin typeface="Malgun Gothic" panose="020B0503020000020004" pitchFamily="50" charset="-127"/>
              </a:rPr>
              <a:t>MDC </a:t>
            </a:r>
            <a:r>
              <a:rPr lang="ko-KR" altLang="en-US" sz="1280" b="1">
                <a:solidFill>
                  <a:srgbClr val="17352E"/>
                </a:solidFill>
                <a:latin typeface="Malgun Gothic" panose="020B0503020000020004" pitchFamily="50" charset="-127"/>
              </a:rPr>
              <a:t>기반 로깅 구조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B4A8A2-8F01-FBE8-CCD3-179285F6316D}"/>
              </a:ext>
            </a:extLst>
          </p:cNvPr>
          <p:cNvSpPr txBox="1"/>
          <p:nvPr/>
        </p:nvSpPr>
        <p:spPr>
          <a:xfrm>
            <a:off x="685800" y="1778000"/>
            <a:ext cx="4851400" cy="64325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060">
                <a:solidFill>
                  <a:srgbClr val="5D6D69"/>
                </a:solidFill>
                <a:latin typeface="Malgun Gothic" panose="020B0503020000020004" pitchFamily="50" charset="-127"/>
              </a:rPr>
              <a:t>인터페이스별 </a:t>
            </a:r>
            <a:r>
              <a:rPr lang="en-US" altLang="ko-KR" sz="1060">
                <a:solidFill>
                  <a:srgbClr val="5D6D69"/>
                </a:solidFill>
                <a:latin typeface="Malgun Gothic" panose="020B0503020000020004" pitchFamily="50" charset="-127"/>
              </a:rPr>
              <a:t>Appender</a:t>
            </a:r>
            <a:r>
              <a:rPr lang="ko-KR" altLang="en-US" sz="1060">
                <a:solidFill>
                  <a:srgbClr val="5D6D69"/>
                </a:solidFill>
                <a:latin typeface="Malgun Gothic" panose="020B0503020000020004" pitchFamily="50" charset="-127"/>
              </a:rPr>
              <a:t>를 다수 유지하던 구조를 </a:t>
            </a:r>
            <a:r>
              <a:rPr lang="en-US" altLang="ko-KR" sz="1060">
                <a:solidFill>
                  <a:srgbClr val="5D6D69"/>
                </a:solidFill>
                <a:latin typeface="Malgun Gothic" panose="020B0503020000020004" pitchFamily="50" charset="-127"/>
              </a:rPr>
              <a:t>MDC </a:t>
            </a:r>
            <a:r>
              <a:rPr lang="ko-KR" altLang="en-US" sz="1060">
                <a:solidFill>
                  <a:srgbClr val="5D6D69"/>
                </a:solidFill>
                <a:latin typeface="Malgun Gothic" panose="020B0503020000020004" pitchFamily="50" charset="-127"/>
              </a:rPr>
              <a:t>기반 동적 로그 분리 방식으로 정리해 설정 복잡도를 낮추고</a:t>
            </a:r>
            <a:r>
              <a:rPr lang="en-US" altLang="ko-KR" sz="106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060">
                <a:solidFill>
                  <a:srgbClr val="5D6D69"/>
                </a:solidFill>
                <a:latin typeface="Malgun Gothic" panose="020B0503020000020004" pitchFamily="50" charset="-127"/>
              </a:rPr>
              <a:t>신규 인터페이스 추가 시에도 별도 설정 변경 없이 확장 가능한 구조로 개선했습니다</a:t>
            </a:r>
            <a:r>
              <a:rPr lang="en-US" altLang="ko-KR" sz="106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1BBB8D-2521-E0B6-60B3-EB94C1CB1693}"/>
              </a:ext>
            </a:extLst>
          </p:cNvPr>
          <p:cNvSpPr txBox="1"/>
          <p:nvPr/>
        </p:nvSpPr>
        <p:spPr>
          <a:xfrm>
            <a:off x="685800" y="2971800"/>
            <a:ext cx="2413000" cy="350865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280" b="1">
                <a:solidFill>
                  <a:srgbClr val="17352E"/>
                </a:solidFill>
                <a:latin typeface="Malgun Gothic" panose="020B0503020000020004" pitchFamily="50" charset="-127"/>
              </a:rPr>
              <a:t>Reactor </a:t>
            </a:r>
            <a:r>
              <a:rPr lang="ko-KR" altLang="en-US" sz="1280" b="1">
                <a:solidFill>
                  <a:srgbClr val="17352E"/>
                </a:solidFill>
                <a:latin typeface="Malgun Gothic" panose="020B0503020000020004" pitchFamily="50" charset="-127"/>
              </a:rPr>
              <a:t>기반 </a:t>
            </a:r>
            <a:r>
              <a:rPr lang="en-US" altLang="ko-KR" sz="1280" b="1">
                <a:solidFill>
                  <a:srgbClr val="17352E"/>
                </a:solidFill>
                <a:latin typeface="Malgun Gothic" panose="020B0503020000020004" pitchFamily="50" charset="-127"/>
              </a:rPr>
              <a:t>Saga </a:t>
            </a:r>
            <a:r>
              <a:rPr lang="ko-KR" altLang="en-US" sz="1280" b="1">
                <a:solidFill>
                  <a:srgbClr val="17352E"/>
                </a:solidFill>
                <a:latin typeface="Malgun Gothic" panose="020B0503020000020004" pitchFamily="50" charset="-127"/>
              </a:rPr>
              <a:t>처리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0C8D31-7177-DBBC-B0B4-70822C5E9CE5}"/>
              </a:ext>
            </a:extLst>
          </p:cNvPr>
          <p:cNvSpPr txBox="1"/>
          <p:nvPr/>
        </p:nvSpPr>
        <p:spPr>
          <a:xfrm>
            <a:off x="685800" y="3251200"/>
            <a:ext cx="4851400" cy="64325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060">
                <a:solidFill>
                  <a:srgbClr val="5D6D69"/>
                </a:solidFill>
                <a:latin typeface="Malgun Gothic" panose="020B0503020000020004" pitchFamily="50" charset="-127"/>
              </a:rPr>
              <a:t>Step </a:t>
            </a:r>
            <a:r>
              <a:rPr lang="ko-KR" altLang="en-US" sz="1060">
                <a:solidFill>
                  <a:srgbClr val="5D6D69"/>
                </a:solidFill>
                <a:latin typeface="Malgun Gothic" panose="020B0503020000020004" pitchFamily="50" charset="-127"/>
              </a:rPr>
              <a:t>단위 상태 관리와 비동기 워크플로우를 결합해 복잡한 마이크로서비스 연계를 다루는 구조를 정리했습니다</a:t>
            </a:r>
            <a:r>
              <a:rPr lang="en-US" altLang="ko-KR" sz="1060">
                <a:solidFill>
                  <a:srgbClr val="5D6D69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060">
                <a:solidFill>
                  <a:srgbClr val="5D6D69"/>
                </a:solidFill>
                <a:latin typeface="Malgun Gothic" panose="020B0503020000020004" pitchFamily="50" charset="-127"/>
              </a:rPr>
              <a:t>에러 발생 시에도 후속 처리 분기를 통해 운영 안정성을 확보하는 방향으로 설계했습니다</a:t>
            </a:r>
            <a:r>
              <a:rPr lang="en-US" altLang="ko-KR" sz="106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8A8891-89F4-071E-0735-4EA233852A38}"/>
              </a:ext>
            </a:extLst>
          </p:cNvPr>
          <p:cNvSpPr txBox="1"/>
          <p:nvPr/>
        </p:nvSpPr>
        <p:spPr>
          <a:xfrm>
            <a:off x="685800" y="4445000"/>
            <a:ext cx="2667000" cy="350865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280" b="1">
                <a:solidFill>
                  <a:srgbClr val="17352E"/>
                </a:solidFill>
                <a:latin typeface="Malgun Gothic" panose="020B0503020000020004" pitchFamily="50" charset="-127"/>
              </a:rPr>
              <a:t>OOM </a:t>
            </a:r>
            <a:r>
              <a:rPr lang="ko-KR" altLang="en-US" sz="1280" b="1">
                <a:solidFill>
                  <a:srgbClr val="17352E"/>
                </a:solidFill>
                <a:latin typeface="Malgun Gothic" panose="020B0503020000020004" pitchFamily="50" charset="-127"/>
              </a:rPr>
              <a:t>개선 </a:t>
            </a:r>
            <a:r>
              <a:rPr lang="en-US" altLang="ko-KR" sz="1280" b="1">
                <a:solidFill>
                  <a:srgbClr val="17352E"/>
                </a:solidFill>
                <a:latin typeface="Malgun Gothic" panose="020B0503020000020004" pitchFamily="50" charset="-127"/>
              </a:rPr>
              <a:t>· ETL · </a:t>
            </a:r>
            <a:r>
              <a:rPr lang="ko-KR" altLang="en-US" sz="1280" b="1">
                <a:solidFill>
                  <a:srgbClr val="17352E"/>
                </a:solidFill>
                <a:latin typeface="Malgun Gothic" panose="020B0503020000020004" pitchFamily="50" charset="-127"/>
              </a:rPr>
              <a:t>릴리즈 검증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9439A3-D98E-3D4D-4AA7-2C8E5D0BED21}"/>
              </a:ext>
            </a:extLst>
          </p:cNvPr>
          <p:cNvSpPr txBox="1"/>
          <p:nvPr/>
        </p:nvSpPr>
        <p:spPr>
          <a:xfrm>
            <a:off x="685800" y="4724400"/>
            <a:ext cx="4851400" cy="64325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060">
                <a:solidFill>
                  <a:srgbClr val="5D6D69"/>
                </a:solidFill>
                <a:latin typeface="Malgun Gothic" panose="020B0503020000020004" pitchFamily="50" charset="-127"/>
              </a:rPr>
              <a:t>중첩된 </a:t>
            </a:r>
            <a:r>
              <a:rPr lang="en-US" altLang="ko-KR" sz="1060">
                <a:solidFill>
                  <a:srgbClr val="5D6D69"/>
                </a:solidFill>
                <a:latin typeface="Malgun Gothic" panose="020B0503020000020004" pitchFamily="50" charset="-127"/>
              </a:rPr>
              <a:t>flatMap</a:t>
            </a:r>
            <a:r>
              <a:rPr lang="ko-KR" altLang="en-US" sz="1060">
                <a:solidFill>
                  <a:srgbClr val="5D6D69"/>
                </a:solidFill>
                <a:latin typeface="Malgun Gothic" panose="020B0503020000020004" pitchFamily="50" charset="-127"/>
              </a:rPr>
              <a:t>과 </a:t>
            </a:r>
            <a:r>
              <a:rPr lang="en-US" altLang="ko-KR" sz="1060">
                <a:solidFill>
                  <a:srgbClr val="5D6D69"/>
                </a:solidFill>
                <a:latin typeface="Malgun Gothic" panose="020B0503020000020004" pitchFamily="50" charset="-127"/>
              </a:rPr>
              <a:t>block </a:t>
            </a:r>
            <a:r>
              <a:rPr lang="ko-KR" altLang="en-US" sz="1060">
                <a:solidFill>
                  <a:srgbClr val="5D6D69"/>
                </a:solidFill>
                <a:latin typeface="Malgun Gothic" panose="020B0503020000020004" pitchFamily="50" charset="-127"/>
              </a:rPr>
              <a:t>구조를 </a:t>
            </a:r>
            <a:r>
              <a:rPr lang="en-US" altLang="ko-KR" sz="1060">
                <a:solidFill>
                  <a:srgbClr val="5D6D69"/>
                </a:solidFill>
                <a:latin typeface="Malgun Gothic" panose="020B0503020000020004" pitchFamily="50" charset="-127"/>
              </a:rPr>
              <a:t>expand </a:t>
            </a:r>
            <a:r>
              <a:rPr lang="ko-KR" altLang="en-US" sz="1060">
                <a:solidFill>
                  <a:srgbClr val="5D6D69"/>
                </a:solidFill>
                <a:latin typeface="Malgun Gothic" panose="020B0503020000020004" pitchFamily="50" charset="-127"/>
              </a:rPr>
              <a:t>기반 스트림으로 전환해 메모리 누적 문제를 줄였고</a:t>
            </a:r>
            <a:r>
              <a:rPr lang="en-US" altLang="ko-KR" sz="1060">
                <a:solidFill>
                  <a:srgbClr val="5D6D69"/>
                </a:solidFill>
                <a:latin typeface="Malgun Gothic" panose="020B0503020000020004" pitchFamily="50" charset="-127"/>
              </a:rPr>
              <a:t>, Spring Batch Partitioning </a:t>
            </a:r>
            <a:r>
              <a:rPr lang="ko-KR" altLang="en-US" sz="1060">
                <a:solidFill>
                  <a:srgbClr val="5D6D69"/>
                </a:solidFill>
                <a:latin typeface="Malgun Gothic" panose="020B0503020000020004" pitchFamily="50" charset="-127"/>
              </a:rPr>
              <a:t>기반 </a:t>
            </a:r>
            <a:r>
              <a:rPr lang="en-US" altLang="ko-KR" sz="1060">
                <a:solidFill>
                  <a:srgbClr val="5D6D69"/>
                </a:solidFill>
                <a:latin typeface="Malgun Gothic" panose="020B0503020000020004" pitchFamily="50" charset="-127"/>
              </a:rPr>
              <a:t>ETL </a:t>
            </a:r>
            <a:r>
              <a:rPr lang="ko-KR" altLang="en-US" sz="1060">
                <a:solidFill>
                  <a:srgbClr val="5D6D69"/>
                </a:solidFill>
                <a:latin typeface="Malgun Gothic" panose="020B0503020000020004" pitchFamily="50" charset="-127"/>
              </a:rPr>
              <a:t>프로토타입과 </a:t>
            </a:r>
            <a:r>
              <a:rPr lang="en-US" altLang="ko-KR" sz="1060">
                <a:solidFill>
                  <a:srgbClr val="5D6D69"/>
                </a:solidFill>
                <a:latin typeface="Malgun Gothic" panose="020B0503020000020004" pitchFamily="50" charset="-127"/>
              </a:rPr>
              <a:t>DB Meta Data </a:t>
            </a:r>
            <a:r>
              <a:rPr lang="ko-KR" altLang="en-US" sz="1060">
                <a:solidFill>
                  <a:srgbClr val="5D6D69"/>
                </a:solidFill>
                <a:latin typeface="Malgun Gothic" panose="020B0503020000020004" pitchFamily="50" charset="-127"/>
              </a:rPr>
              <a:t>검증 자동화 구조까지 구성했습니다</a:t>
            </a:r>
            <a:r>
              <a:rPr lang="en-US" altLang="ko-KR" sz="106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06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27D476-2CF2-CAFB-5EF4-274AD5FFD6FB}"/>
              </a:ext>
            </a:extLst>
          </p:cNvPr>
          <p:cNvSpPr/>
          <p:nvPr/>
        </p:nvSpPr>
        <p:spPr>
          <a:xfrm>
            <a:off x="6273800" y="1473200"/>
            <a:ext cx="5105400" cy="11430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AF285D-EF7F-8319-FBBF-629D0A57390E}"/>
              </a:ext>
            </a:extLst>
          </p:cNvPr>
          <p:cNvSpPr txBox="1"/>
          <p:nvPr/>
        </p:nvSpPr>
        <p:spPr>
          <a:xfrm>
            <a:off x="6527800" y="1752600"/>
            <a:ext cx="4572000" cy="61555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MDC Logging
</a:t>
            </a:r>
            <a:r>
              <a:rPr lang="ko-KR" altLang="en-US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운영 환경에서 로그 추적성과 모니터링 가시성 개선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694914C-BC3E-3EA0-CC67-F7941576B79F}"/>
              </a:ext>
            </a:extLst>
          </p:cNvPr>
          <p:cNvSpPr/>
          <p:nvPr/>
        </p:nvSpPr>
        <p:spPr>
          <a:xfrm>
            <a:off x="6273800" y="2819400"/>
            <a:ext cx="5105400" cy="11430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AF6CCB-A703-882E-CF9A-12FF21224204}"/>
              </a:ext>
            </a:extLst>
          </p:cNvPr>
          <p:cNvSpPr txBox="1"/>
          <p:nvPr/>
        </p:nvSpPr>
        <p:spPr>
          <a:xfrm>
            <a:off x="6527800" y="3098800"/>
            <a:ext cx="4572000" cy="61555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Reactor / Saga
</a:t>
            </a:r>
            <a:r>
              <a:rPr lang="ko-KR" altLang="en-US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비동기 워크플로우 구조화 및 장애 분기 대응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ECAE5C-BD6B-3593-74B0-3C3B0DAB44BC}"/>
              </a:ext>
            </a:extLst>
          </p:cNvPr>
          <p:cNvSpPr/>
          <p:nvPr/>
        </p:nvSpPr>
        <p:spPr>
          <a:xfrm>
            <a:off x="6273800" y="4165600"/>
            <a:ext cx="5105400" cy="14224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620A48-603C-CFD2-718E-A497AD7F2ACF}"/>
              </a:ext>
            </a:extLst>
          </p:cNvPr>
          <p:cNvSpPr txBox="1"/>
          <p:nvPr/>
        </p:nvSpPr>
        <p:spPr>
          <a:xfrm>
            <a:off x="6527800" y="4445000"/>
            <a:ext cx="4572000" cy="846386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OOM </a:t>
            </a:r>
            <a:r>
              <a:rPr lang="ko-KR" altLang="en-US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개선 </a:t>
            </a:r>
            <a:r>
              <a:rPr lang="en-US" altLang="ko-KR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· ETL · DB Validation
</a:t>
            </a:r>
            <a:r>
              <a:rPr lang="ko-KR" altLang="en-US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메모리 이슈 완화</a:t>
            </a:r>
            <a:r>
              <a:rPr lang="en-US" altLang="ko-KR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, ETL </a:t>
            </a:r>
            <a:r>
              <a:rPr lang="ko-KR" altLang="en-US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프로토타입</a:t>
            </a:r>
            <a:r>
              <a:rPr lang="en-US" altLang="ko-KR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, DB Meta Data </a:t>
            </a:r>
            <a:r>
              <a:rPr lang="ko-KR" altLang="en-US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검증 자동화까지 수행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EED24F8-1424-BE8F-746A-526366274439}"/>
              </a:ext>
            </a:extLst>
          </p:cNvPr>
          <p:cNvCxnSpPr/>
          <p:nvPr/>
        </p:nvCxnSpPr>
        <p:spPr>
          <a:xfrm>
            <a:off x="533400" y="6477000"/>
            <a:ext cx="11099800" cy="0"/>
          </a:xfrm>
          <a:prstGeom prst="line">
            <a:avLst/>
          </a:prstGeom>
          <a:ln w="12700">
            <a:solidFill>
              <a:srgbClr val="D8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CA7EF91-4FBE-B7B8-1D63-A9108AA80112}"/>
              </a:ext>
            </a:extLst>
          </p:cNvPr>
          <p:cNvSpPr txBox="1"/>
          <p:nvPr/>
        </p:nvSpPr>
        <p:spPr>
          <a:xfrm>
            <a:off x="533400" y="6527800"/>
            <a:ext cx="4445000" cy="28469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850">
                <a:solidFill>
                  <a:srgbClr val="5D6D69"/>
                </a:solidFill>
                <a:latin typeface="Malgun Gothic" panose="020B0503020000020004" pitchFamily="50" charset="-127"/>
              </a:rPr>
              <a:t>Portfolio generated from seob31.github.io</a:t>
            </a:r>
            <a:endParaRPr lang="ko-KR" altLang="en-US" sz="85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853CA6-79C2-BDBC-187E-AEF857C01482}"/>
              </a:ext>
            </a:extLst>
          </p:cNvPr>
          <p:cNvSpPr txBox="1"/>
          <p:nvPr/>
        </p:nvSpPr>
        <p:spPr>
          <a:xfrm>
            <a:off x="11176000" y="6527800"/>
            <a:ext cx="457200" cy="28469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pPr algn="r"/>
            <a:r>
              <a:rPr lang="en-US" altLang="ko-KR" sz="850">
                <a:solidFill>
                  <a:srgbClr val="5D6D69"/>
                </a:solidFill>
                <a:latin typeface="Malgun Gothic" panose="020B0503020000020004" pitchFamily="50" charset="-127"/>
              </a:rPr>
              <a:t>4</a:t>
            </a:r>
            <a:endParaRPr lang="ko-KR" altLang="en-US" sz="85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1430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AC1591-6467-6B53-B12B-233CA8A67A0A}"/>
              </a:ext>
            </a:extLst>
          </p:cNvPr>
          <p:cNvSpPr txBox="1"/>
          <p:nvPr/>
        </p:nvSpPr>
        <p:spPr>
          <a:xfrm>
            <a:off x="533400" y="304800"/>
            <a:ext cx="7874000" cy="523220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Saforus | Backend </a:t>
            </a:r>
            <a:r>
              <a:rPr lang="ko-KR" altLang="en-US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개발 </a:t>
            </a:r>
            <a:r>
              <a:rPr lang="en-US" altLang="ko-KR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· AWS · </a:t>
            </a:r>
            <a:r>
              <a:rPr lang="ko-KR" altLang="en-US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운영 대응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B6BDA-B9CD-9A5E-A52C-4911916D942A}"/>
              </a:ext>
            </a:extLst>
          </p:cNvPr>
          <p:cNvSpPr txBox="1"/>
          <p:nvPr/>
        </p:nvSpPr>
        <p:spPr>
          <a:xfrm>
            <a:off x="558800" y="736600"/>
            <a:ext cx="7112000" cy="315471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2023.01 ~ 2023.05 · Java Backend ·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인프라 운영 </a:t>
            </a:r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모니터링 </a:t>
            </a:r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· Trouble Shooting</a:t>
            </a:r>
            <a:endParaRPr lang="ko-KR" altLang="en-US" sz="1050">
              <a:solidFill>
                <a:srgbClr val="1F7A63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10CB025-261C-8A84-CD14-DEE58E3B7A85}"/>
              </a:ext>
            </a:extLst>
          </p:cNvPr>
          <p:cNvCxnSpPr/>
          <p:nvPr/>
        </p:nvCxnSpPr>
        <p:spPr>
          <a:xfrm>
            <a:off x="533400" y="1092200"/>
            <a:ext cx="11099800" cy="0"/>
          </a:xfrm>
          <a:prstGeom prst="line">
            <a:avLst/>
          </a:prstGeom>
          <a:ln w="17780">
            <a:solidFill>
              <a:srgbClr val="D8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BED1B5A-45F6-BF21-8F60-3AB03623FB87}"/>
              </a:ext>
            </a:extLst>
          </p:cNvPr>
          <p:cNvSpPr txBox="1"/>
          <p:nvPr/>
        </p:nvSpPr>
        <p:spPr>
          <a:xfrm>
            <a:off x="533400" y="1320800"/>
            <a:ext cx="4953000" cy="35394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300" b="1">
                <a:solidFill>
                  <a:srgbClr val="17352E"/>
                </a:solidFill>
                <a:latin typeface="Malgun Gothic" panose="020B0503020000020004" pitchFamily="50" charset="-127"/>
              </a:rPr>
              <a:t>Overview</a:t>
            </a:r>
            <a:endParaRPr lang="ko-KR" altLang="en-US" sz="13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E04889-0A61-9862-55B2-A3F1EB9ABC2F}"/>
              </a:ext>
            </a:extLst>
          </p:cNvPr>
          <p:cNvSpPr txBox="1"/>
          <p:nvPr/>
        </p:nvSpPr>
        <p:spPr>
          <a:xfrm>
            <a:off x="533400" y="1600200"/>
            <a:ext cx="4953000" cy="67095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미디어 파일에 포렌식 워터마크를 적용하고 유출 추적과 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DRM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적용을 지원하는 서비스입니다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설계부터 백엔드 개발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AWS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기반 서버 운영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해외 개발자 협업 지원까지 함께 수행했습니다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12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697DD2-D476-BE4C-E1A4-B71349C00420}"/>
              </a:ext>
            </a:extLst>
          </p:cNvPr>
          <p:cNvSpPr txBox="1"/>
          <p:nvPr/>
        </p:nvSpPr>
        <p:spPr>
          <a:xfrm>
            <a:off x="533400" y="2616200"/>
            <a:ext cx="4953000" cy="35394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300" b="1">
                <a:solidFill>
                  <a:srgbClr val="17352E"/>
                </a:solidFill>
                <a:latin typeface="Malgun Gothic" panose="020B0503020000020004" pitchFamily="50" charset="-127"/>
              </a:rPr>
              <a:t>Role</a:t>
            </a:r>
            <a:endParaRPr lang="ko-KR" altLang="en-US" sz="13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6EDFCD-26DB-40B0-FF9D-8F94DFC711E5}"/>
              </a:ext>
            </a:extLst>
          </p:cNvPr>
          <p:cNvSpPr txBox="1"/>
          <p:nvPr/>
        </p:nvSpPr>
        <p:spPr>
          <a:xfrm>
            <a:off x="533400" y="2895600"/>
            <a:ext cx="4953000" cy="498598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MSA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기반으로 오케스트레이션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컴포저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포렌식 워터마크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검증 모듈을 개발했고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FFmpeg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명령 조합을 활용해 미디어 처리 기능을 강화했습니다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12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0A40D5-EDE6-B8A1-7ECB-DF068F15B184}"/>
              </a:ext>
            </a:extLst>
          </p:cNvPr>
          <p:cNvSpPr txBox="1"/>
          <p:nvPr/>
        </p:nvSpPr>
        <p:spPr>
          <a:xfrm>
            <a:off x="533400" y="3911600"/>
            <a:ext cx="4953000" cy="35394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300" b="1">
                <a:solidFill>
                  <a:srgbClr val="17352E"/>
                </a:solidFill>
                <a:latin typeface="Malgun Gothic" panose="020B0503020000020004" pitchFamily="50" charset="-127"/>
              </a:rPr>
              <a:t>Infra &amp; Collaboration</a:t>
            </a:r>
            <a:endParaRPr lang="ko-KR" altLang="en-US" sz="13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A8494C-BA25-0024-83ED-2DE404AD75F8}"/>
              </a:ext>
            </a:extLst>
          </p:cNvPr>
          <p:cNvSpPr txBox="1"/>
          <p:nvPr/>
        </p:nvSpPr>
        <p:spPr>
          <a:xfrm>
            <a:off x="533400" y="4191000"/>
            <a:ext cx="4953000" cy="498598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AWS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인프라 구축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GPU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서버 관리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Jenkins·Docker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기반 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CI/CD,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기획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디자인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해외 개발자 협업 지원을 통해 프로젝트 전체 흐름을 이어갔습니다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12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5030060-6826-EFDB-1AEC-362C63152E8C}"/>
              </a:ext>
            </a:extLst>
          </p:cNvPr>
          <p:cNvSpPr/>
          <p:nvPr/>
        </p:nvSpPr>
        <p:spPr>
          <a:xfrm>
            <a:off x="6045200" y="1397000"/>
            <a:ext cx="5384800" cy="11684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A4B16A-A201-FD35-DFB9-C9FD04FC3DE9}"/>
              </a:ext>
            </a:extLst>
          </p:cNvPr>
          <p:cNvSpPr txBox="1"/>
          <p:nvPr/>
        </p:nvSpPr>
        <p:spPr>
          <a:xfrm>
            <a:off x="6299200" y="1676400"/>
            <a:ext cx="4876800" cy="892552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600" b="1">
                <a:solidFill>
                  <a:srgbClr val="17352E"/>
                </a:solidFill>
                <a:latin typeface="Malgun Gothic" panose="020B0503020000020004" pitchFamily="50" charset="-127"/>
              </a:rPr>
              <a:t>핵심 역량
</a:t>
            </a:r>
            <a:r>
              <a:rPr lang="en-US" altLang="ko-KR" sz="1600" b="1">
                <a:solidFill>
                  <a:srgbClr val="17352E"/>
                </a:solidFill>
                <a:latin typeface="Malgun Gothic" panose="020B0503020000020004" pitchFamily="50" charset="-127"/>
              </a:rPr>
              <a:t>Java Backend · AWS </a:t>
            </a:r>
            <a:r>
              <a:rPr lang="ko-KR" altLang="en-US" sz="1600" b="1">
                <a:solidFill>
                  <a:srgbClr val="17352E"/>
                </a:solidFill>
                <a:latin typeface="Malgun Gothic" panose="020B0503020000020004" pitchFamily="50" charset="-127"/>
              </a:rPr>
              <a:t>운영 </a:t>
            </a:r>
            <a:r>
              <a:rPr lang="en-US" altLang="ko-KR" sz="1600" b="1">
                <a:solidFill>
                  <a:srgbClr val="17352E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600" b="1">
                <a:solidFill>
                  <a:srgbClr val="17352E"/>
                </a:solidFill>
                <a:latin typeface="Malgun Gothic" panose="020B0503020000020004" pitchFamily="50" charset="-127"/>
              </a:rPr>
              <a:t>미디어 처리 </a:t>
            </a:r>
            <a:r>
              <a:rPr lang="en-US" altLang="ko-KR" sz="1600" b="1">
                <a:solidFill>
                  <a:srgbClr val="17352E"/>
                </a:solidFill>
                <a:latin typeface="Malgun Gothic" panose="020B0503020000020004" pitchFamily="50" charset="-127"/>
              </a:rPr>
              <a:t>· Trouble Shooting</a:t>
            </a:r>
            <a:endParaRPr lang="ko-KR" altLang="en-US" sz="16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C5CEA88-EA4A-1B29-102A-BEB45F7421ED}"/>
              </a:ext>
            </a:extLst>
          </p:cNvPr>
          <p:cNvSpPr/>
          <p:nvPr/>
        </p:nvSpPr>
        <p:spPr>
          <a:xfrm>
            <a:off x="6045200" y="2819400"/>
            <a:ext cx="2540000" cy="19304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F08665-6D71-C4EA-2156-2437B25DDB18}"/>
              </a:ext>
            </a:extLst>
          </p:cNvPr>
          <p:cNvSpPr txBox="1"/>
          <p:nvPr/>
        </p:nvSpPr>
        <p:spPr>
          <a:xfrm>
            <a:off x="6248400" y="3149600"/>
            <a:ext cx="2133600" cy="101566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MSA </a:t>
            </a:r>
            <a:r>
              <a:rPr lang="ko-KR" altLang="en-US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기반
오케스트레이션
워터마크 처리
검증 모듈 개발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59EF73-1533-0346-CD11-A031CC772B95}"/>
              </a:ext>
            </a:extLst>
          </p:cNvPr>
          <p:cNvSpPr/>
          <p:nvPr/>
        </p:nvSpPr>
        <p:spPr>
          <a:xfrm>
            <a:off x="8890000" y="2819400"/>
            <a:ext cx="2540000" cy="19304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95150F-B9E8-6902-E0C4-6E3F33B41954}"/>
              </a:ext>
            </a:extLst>
          </p:cNvPr>
          <p:cNvSpPr txBox="1"/>
          <p:nvPr/>
        </p:nvSpPr>
        <p:spPr>
          <a:xfrm>
            <a:off x="9093200" y="3149600"/>
            <a:ext cx="2133600" cy="101566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AWS </a:t>
            </a:r>
            <a:r>
              <a:rPr lang="ko-KR" altLang="en-US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인프라
</a:t>
            </a:r>
            <a:r>
              <a:rPr lang="en-US" altLang="ko-KR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GPU </a:t>
            </a:r>
            <a:r>
              <a:rPr lang="ko-KR" altLang="en-US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서버 관리
</a:t>
            </a:r>
            <a:r>
              <a:rPr lang="en-US" altLang="ko-KR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Jenkins / Docker
</a:t>
            </a:r>
            <a:r>
              <a:rPr lang="ko-KR" altLang="en-US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운영 대응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6389056-F920-105F-5124-464B5FF7BC39}"/>
              </a:ext>
            </a:extLst>
          </p:cNvPr>
          <p:cNvCxnSpPr/>
          <p:nvPr/>
        </p:nvCxnSpPr>
        <p:spPr>
          <a:xfrm>
            <a:off x="533400" y="6477000"/>
            <a:ext cx="11099800" cy="0"/>
          </a:xfrm>
          <a:prstGeom prst="line">
            <a:avLst/>
          </a:prstGeom>
          <a:ln w="12700">
            <a:solidFill>
              <a:srgbClr val="D8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EC9D257-3FE1-7E66-0155-3777215CE4FA}"/>
              </a:ext>
            </a:extLst>
          </p:cNvPr>
          <p:cNvSpPr txBox="1"/>
          <p:nvPr/>
        </p:nvSpPr>
        <p:spPr>
          <a:xfrm>
            <a:off x="533400" y="6527800"/>
            <a:ext cx="4445000" cy="28469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850">
                <a:solidFill>
                  <a:srgbClr val="5D6D69"/>
                </a:solidFill>
                <a:latin typeface="Malgun Gothic" panose="020B0503020000020004" pitchFamily="50" charset="-127"/>
              </a:rPr>
              <a:t>Portfolio generated from seob31.github.io</a:t>
            </a:r>
            <a:endParaRPr lang="ko-KR" altLang="en-US" sz="85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06388F-992A-9C34-9B92-8891FC99608A}"/>
              </a:ext>
            </a:extLst>
          </p:cNvPr>
          <p:cNvSpPr txBox="1"/>
          <p:nvPr/>
        </p:nvSpPr>
        <p:spPr>
          <a:xfrm>
            <a:off x="11176000" y="6527800"/>
            <a:ext cx="457200" cy="28469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pPr algn="r"/>
            <a:r>
              <a:rPr lang="en-US" altLang="ko-KR" sz="850">
                <a:solidFill>
                  <a:srgbClr val="5D6D69"/>
                </a:solidFill>
                <a:latin typeface="Malgun Gothic" panose="020B0503020000020004" pitchFamily="50" charset="-127"/>
              </a:rPr>
              <a:t>5</a:t>
            </a:r>
            <a:endParaRPr lang="ko-KR" altLang="en-US" sz="85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6666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26AA92-90D4-1F84-1C35-70D56D2DB310}"/>
              </a:ext>
            </a:extLst>
          </p:cNvPr>
          <p:cNvSpPr txBox="1"/>
          <p:nvPr/>
        </p:nvSpPr>
        <p:spPr>
          <a:xfrm>
            <a:off x="533400" y="304800"/>
            <a:ext cx="7874000" cy="523220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API </a:t>
            </a:r>
            <a:r>
              <a:rPr lang="ko-KR" altLang="en-US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연계 </a:t>
            </a:r>
            <a:r>
              <a:rPr lang="en-US" altLang="ko-KR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/ AWS / Docker-Jenkins / Trouble Shooting</a:t>
            </a:r>
            <a:endParaRPr lang="ko-KR" altLang="en-US" sz="24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CC8FDD-DD96-6AAB-5866-EC9635C314DD}"/>
              </a:ext>
            </a:extLst>
          </p:cNvPr>
          <p:cNvSpPr txBox="1"/>
          <p:nvPr/>
        </p:nvSpPr>
        <p:spPr>
          <a:xfrm>
            <a:off x="558800" y="736600"/>
            <a:ext cx="7112000" cy="315471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2022 Projects · REST API ·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운영 환경 구성 </a:t>
            </a:r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협업 </a:t>
            </a:r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장애 대응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85C0ECB-C370-BBEA-5BF0-F03DF967DEEC}"/>
              </a:ext>
            </a:extLst>
          </p:cNvPr>
          <p:cNvCxnSpPr/>
          <p:nvPr/>
        </p:nvCxnSpPr>
        <p:spPr>
          <a:xfrm>
            <a:off x="533400" y="1092200"/>
            <a:ext cx="11099800" cy="0"/>
          </a:xfrm>
          <a:prstGeom prst="line">
            <a:avLst/>
          </a:prstGeom>
          <a:ln w="17780">
            <a:solidFill>
              <a:srgbClr val="D8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E99D27-4064-D1B3-1A6D-731469A7308B}"/>
              </a:ext>
            </a:extLst>
          </p:cNvPr>
          <p:cNvSpPr/>
          <p:nvPr/>
        </p:nvSpPr>
        <p:spPr>
          <a:xfrm>
            <a:off x="533400" y="1371600"/>
            <a:ext cx="5334000" cy="41910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AEC30E-1D31-1B40-2A4A-55A968C96D68}"/>
              </a:ext>
            </a:extLst>
          </p:cNvPr>
          <p:cNvSpPr txBox="1"/>
          <p:nvPr/>
        </p:nvSpPr>
        <p:spPr>
          <a:xfrm>
            <a:off x="711200" y="1549400"/>
            <a:ext cx="4064000" cy="384721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REST API </a:t>
            </a:r>
            <a:r>
              <a:rPr lang="ko-KR" altLang="en-US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서버 개발 </a:t>
            </a:r>
            <a:r>
              <a:rPr lang="en-US" altLang="ko-KR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/ AWS </a:t>
            </a:r>
            <a:r>
              <a:rPr lang="ko-KR" altLang="en-US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운영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8948D3-336C-9093-4B9A-268F57C38208}"/>
              </a:ext>
            </a:extLst>
          </p:cNvPr>
          <p:cNvSpPr txBox="1"/>
          <p:nvPr/>
        </p:nvSpPr>
        <p:spPr>
          <a:xfrm>
            <a:off x="711200" y="1879600"/>
            <a:ext cx="4978400" cy="67095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MSA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기반 시스템 설계와 아키텍처 정리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Unity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와 연동되는 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REST API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서버 개발을 수행했습니다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도메인보다 중요한 것은 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API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연계 구조와 서비스가 실제로 동작하도록 받쳐주는 백엔드 설계였습니다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12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C4DAA-D039-3412-1CE6-48E7F5210BB3}"/>
              </a:ext>
            </a:extLst>
          </p:cNvPr>
          <p:cNvSpPr txBox="1"/>
          <p:nvPr/>
        </p:nvSpPr>
        <p:spPr>
          <a:xfrm>
            <a:off x="711200" y="3403600"/>
            <a:ext cx="4978400" cy="498598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AWS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인프라와 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Jenkins·Docker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배포 환경을 구성했으며 해외 개발자 협업 지원과 게임 서버 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Trouble Shooting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을 담당했습니다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12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9ACA28-9FAE-ABCD-1BD3-72A1F4847DD7}"/>
              </a:ext>
            </a:extLst>
          </p:cNvPr>
          <p:cNvSpPr/>
          <p:nvPr/>
        </p:nvSpPr>
        <p:spPr>
          <a:xfrm>
            <a:off x="6273800" y="1371600"/>
            <a:ext cx="5359400" cy="41910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89D6E8-A405-0AFC-767E-CAB40E7CE4F6}"/>
              </a:ext>
            </a:extLst>
          </p:cNvPr>
          <p:cNvSpPr txBox="1"/>
          <p:nvPr/>
        </p:nvSpPr>
        <p:spPr>
          <a:xfrm>
            <a:off x="6451600" y="1549400"/>
            <a:ext cx="3810000" cy="384721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PKI </a:t>
            </a:r>
            <a:r>
              <a:rPr lang="ko-KR" altLang="en-US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연계 </a:t>
            </a:r>
            <a:r>
              <a:rPr lang="en-US" altLang="ko-KR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전자서명 검증 </a:t>
            </a:r>
            <a:r>
              <a:rPr lang="en-US" altLang="ko-KR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API</a:t>
            </a:r>
            <a:endParaRPr lang="ko-KR" altLang="en-US" sz="15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74C3B7-D22D-C977-7894-C2098BBE061B}"/>
              </a:ext>
            </a:extLst>
          </p:cNvPr>
          <p:cNvSpPr txBox="1"/>
          <p:nvPr/>
        </p:nvSpPr>
        <p:spPr>
          <a:xfrm>
            <a:off x="6451600" y="1879600"/>
            <a:ext cx="4978400" cy="67095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제공된 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PKI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라이브러리를 활용해 로그인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PDF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서명 값 삽입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공개키 기반 서명 검증 기능을 서비스에 연동했습니다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외부 라이브러리와 서비스 로직을 연결하는 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API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연계 역량이 드러나는 프로젝트였습니다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12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C0375FA-78EA-8654-B828-9450C4AA0373}"/>
              </a:ext>
            </a:extLst>
          </p:cNvPr>
          <p:cNvSpPr/>
          <p:nvPr/>
        </p:nvSpPr>
        <p:spPr>
          <a:xfrm>
            <a:off x="7112000" y="3378200"/>
            <a:ext cx="3708400" cy="15494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79D04D-9001-7D2A-1D6C-ED5C0CAC7924}"/>
              </a:ext>
            </a:extLst>
          </p:cNvPr>
          <p:cNvSpPr txBox="1"/>
          <p:nvPr/>
        </p:nvSpPr>
        <p:spPr>
          <a:xfrm>
            <a:off x="7340600" y="3759200"/>
            <a:ext cx="3225800" cy="800219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외부 </a:t>
            </a:r>
            <a:r>
              <a:rPr lang="en-US" altLang="ko-KR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PKI </a:t>
            </a:r>
            <a:r>
              <a:rPr lang="ko-KR" altLang="en-US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라이브러리 연계
서명 검증 </a:t>
            </a:r>
            <a:r>
              <a:rPr lang="en-US" altLang="ko-KR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API </a:t>
            </a:r>
            <a:r>
              <a:rPr lang="ko-KR" altLang="en-US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연결
서비스 지연 구간 보완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FC36CF5-D174-0984-6F44-3ED39702F437}"/>
              </a:ext>
            </a:extLst>
          </p:cNvPr>
          <p:cNvCxnSpPr/>
          <p:nvPr/>
        </p:nvCxnSpPr>
        <p:spPr>
          <a:xfrm>
            <a:off x="533400" y="6477000"/>
            <a:ext cx="11099800" cy="0"/>
          </a:xfrm>
          <a:prstGeom prst="line">
            <a:avLst/>
          </a:prstGeom>
          <a:ln w="12700">
            <a:solidFill>
              <a:srgbClr val="D8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D9130B0-EBEC-FC92-6C63-771CEB20E0B5}"/>
              </a:ext>
            </a:extLst>
          </p:cNvPr>
          <p:cNvSpPr txBox="1"/>
          <p:nvPr/>
        </p:nvSpPr>
        <p:spPr>
          <a:xfrm>
            <a:off x="533400" y="6527800"/>
            <a:ext cx="4445000" cy="28469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850">
                <a:solidFill>
                  <a:srgbClr val="5D6D69"/>
                </a:solidFill>
                <a:latin typeface="Malgun Gothic" panose="020B0503020000020004" pitchFamily="50" charset="-127"/>
              </a:rPr>
              <a:t>Portfolio generated from seob31.github.io</a:t>
            </a:r>
            <a:endParaRPr lang="ko-KR" altLang="en-US" sz="85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140106-231A-3840-E35F-80DF2A836EBF}"/>
              </a:ext>
            </a:extLst>
          </p:cNvPr>
          <p:cNvSpPr txBox="1"/>
          <p:nvPr/>
        </p:nvSpPr>
        <p:spPr>
          <a:xfrm>
            <a:off x="11176000" y="6527800"/>
            <a:ext cx="457200" cy="28469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pPr algn="r"/>
            <a:r>
              <a:rPr lang="en-US" altLang="ko-KR" sz="850">
                <a:solidFill>
                  <a:srgbClr val="5D6D69"/>
                </a:solidFill>
                <a:latin typeface="Malgun Gothic" panose="020B0503020000020004" pitchFamily="50" charset="-127"/>
              </a:rPr>
              <a:t>6</a:t>
            </a:r>
            <a:endParaRPr lang="ko-KR" altLang="en-US" sz="85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1544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D8FA45-9A24-65FE-819B-2E8DC27D1F93}"/>
              </a:ext>
            </a:extLst>
          </p:cNvPr>
          <p:cNvSpPr txBox="1"/>
          <p:nvPr/>
        </p:nvSpPr>
        <p:spPr>
          <a:xfrm>
            <a:off x="533400" y="304800"/>
            <a:ext cx="7874000" cy="523220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코딩 테스트 서비스 </a:t>
            </a:r>
            <a:r>
              <a:rPr lang="en-US" altLang="ko-KR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강릉시 커뮤니티 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32954F-8399-01FB-8F41-337BD792BD6A}"/>
              </a:ext>
            </a:extLst>
          </p:cNvPr>
          <p:cNvSpPr txBox="1"/>
          <p:nvPr/>
        </p:nvSpPr>
        <p:spPr>
          <a:xfrm>
            <a:off x="558800" y="736600"/>
            <a:ext cx="7112000" cy="315471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Backend · API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연계 </a:t>
            </a:r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· Linux/Docker/Jenkins · DB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처리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A354B83-30DD-4055-F635-C80D9EA2007C}"/>
              </a:ext>
            </a:extLst>
          </p:cNvPr>
          <p:cNvCxnSpPr/>
          <p:nvPr/>
        </p:nvCxnSpPr>
        <p:spPr>
          <a:xfrm>
            <a:off x="533400" y="1092200"/>
            <a:ext cx="11099800" cy="0"/>
          </a:xfrm>
          <a:prstGeom prst="line">
            <a:avLst/>
          </a:prstGeom>
          <a:ln w="17780">
            <a:solidFill>
              <a:srgbClr val="D8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2BF84C-0EFE-D9E5-4621-48BB254EF941}"/>
              </a:ext>
            </a:extLst>
          </p:cNvPr>
          <p:cNvSpPr/>
          <p:nvPr/>
        </p:nvSpPr>
        <p:spPr>
          <a:xfrm>
            <a:off x="533400" y="1371600"/>
            <a:ext cx="5334000" cy="41910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96419F-DC96-73CA-48E8-15DA2BF2ACB0}"/>
              </a:ext>
            </a:extLst>
          </p:cNvPr>
          <p:cNvSpPr txBox="1"/>
          <p:nvPr/>
        </p:nvSpPr>
        <p:spPr>
          <a:xfrm>
            <a:off x="711200" y="1549400"/>
            <a:ext cx="3556000" cy="384721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코딩 테스트 서비스 개발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AC3BF3-8D20-B6D5-7150-8292A6B73042}"/>
              </a:ext>
            </a:extLst>
          </p:cNvPr>
          <p:cNvSpPr txBox="1"/>
          <p:nvPr/>
        </p:nvSpPr>
        <p:spPr>
          <a:xfrm>
            <a:off x="711200" y="1879600"/>
            <a:ext cx="4978400" cy="843308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12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개 언어를 지원하는 코딩 테스트 서비스로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Java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기반 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API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서버와 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Execution Server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를 개발하고 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Isolate Sandbox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기반 다중 언어 실행 환경을 구성했습니다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 Linux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서버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Docker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기반 온프레미스 배포 구조 설계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운영 관리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언어별 컴파일러 설치와 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Trouble Shooting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까지 함께 담당했습니다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12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EA6F1E9-DF99-16A4-65D7-6FCCD7205C86}"/>
              </a:ext>
            </a:extLst>
          </p:cNvPr>
          <p:cNvSpPr/>
          <p:nvPr/>
        </p:nvSpPr>
        <p:spPr>
          <a:xfrm>
            <a:off x="1752600" y="3810000"/>
            <a:ext cx="2921000" cy="12954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9888A8-129D-ECB9-3AA3-AE6615316843}"/>
              </a:ext>
            </a:extLst>
          </p:cNvPr>
          <p:cNvSpPr txBox="1"/>
          <p:nvPr/>
        </p:nvSpPr>
        <p:spPr>
          <a:xfrm>
            <a:off x="1981200" y="4114800"/>
            <a:ext cx="2463800" cy="800219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Linux </a:t>
            </a:r>
            <a:r>
              <a:rPr lang="ko-KR" altLang="en-US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서버 운영
</a:t>
            </a:r>
            <a:r>
              <a:rPr lang="en-US" altLang="ko-KR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Docker </a:t>
            </a:r>
            <a:r>
              <a:rPr lang="ko-KR" altLang="en-US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기반 배포
실행 환경 </a:t>
            </a:r>
            <a:r>
              <a:rPr lang="en-US" altLang="ko-KR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Trouble Shooting</a:t>
            </a:r>
            <a:endParaRPr lang="ko-KR" altLang="en-US" sz="14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A91221-6142-F49F-0A17-6B758F4E8951}"/>
              </a:ext>
            </a:extLst>
          </p:cNvPr>
          <p:cNvSpPr/>
          <p:nvPr/>
        </p:nvSpPr>
        <p:spPr>
          <a:xfrm>
            <a:off x="6273800" y="1371600"/>
            <a:ext cx="5359400" cy="41910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10254B-67B5-F884-B86B-8801DE811037}"/>
              </a:ext>
            </a:extLst>
          </p:cNvPr>
          <p:cNvSpPr txBox="1"/>
          <p:nvPr/>
        </p:nvSpPr>
        <p:spPr>
          <a:xfrm>
            <a:off x="6451600" y="1549400"/>
            <a:ext cx="3810000" cy="384721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강릉시 커뮤니티 앱 </a:t>
            </a:r>
            <a:r>
              <a:rPr lang="en-US" altLang="ko-KR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내손안에 강릉</a:t>
            </a:r>
            <a:r>
              <a:rPr lang="en-US" altLang="ko-KR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)</a:t>
            </a:r>
            <a:endParaRPr lang="ko-KR" altLang="en-US" sz="15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9AD40A-B4D2-12E6-3365-C073CD509463}"/>
              </a:ext>
            </a:extLst>
          </p:cNvPr>
          <p:cNvSpPr txBox="1"/>
          <p:nvPr/>
        </p:nvSpPr>
        <p:spPr>
          <a:xfrm>
            <a:off x="6451600" y="1879600"/>
            <a:ext cx="4978400" cy="843308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정부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24 API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연동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맞춤복지 기능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국가 행정망 기반 시민 확인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모바일과 서버 간 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RSA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암호화 통신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DB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백업 스크립트를 개발했습니다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 Docker·Shell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기반 배포 자동화와 테스트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운영 서버 구축까지 맡아 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API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연계와 운영 안정화를 함께 경험했습니다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12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F54C7BA-4AD5-3AA8-562C-5EA533865649}"/>
              </a:ext>
            </a:extLst>
          </p:cNvPr>
          <p:cNvSpPr/>
          <p:nvPr/>
        </p:nvSpPr>
        <p:spPr>
          <a:xfrm>
            <a:off x="6502400" y="3632200"/>
            <a:ext cx="4953000" cy="14478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12C751-007C-7DC5-2271-AA56E6556A44}"/>
              </a:ext>
            </a:extLst>
          </p:cNvPr>
          <p:cNvSpPr txBox="1"/>
          <p:nvPr/>
        </p:nvSpPr>
        <p:spPr>
          <a:xfrm>
            <a:off x="6731000" y="3962400"/>
            <a:ext cx="4470400" cy="101566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정부</a:t>
            </a:r>
            <a:r>
              <a:rPr lang="en-US" altLang="ko-KR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24 API </a:t>
            </a:r>
            <a:r>
              <a:rPr lang="ko-KR" altLang="en-US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연동
</a:t>
            </a:r>
            <a:r>
              <a:rPr lang="en-US" altLang="ko-KR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RSA </a:t>
            </a:r>
            <a:r>
              <a:rPr lang="ko-KR" altLang="en-US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암호화 통신
</a:t>
            </a:r>
            <a:r>
              <a:rPr lang="en-US" altLang="ko-KR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DB </a:t>
            </a:r>
            <a:r>
              <a:rPr lang="ko-KR" altLang="en-US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백업 스크립트
테스트</a:t>
            </a:r>
            <a:r>
              <a:rPr lang="en-US" altLang="ko-KR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운영 서버 구축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305D1D1-7EF2-5623-DF9C-F2BDB49739B4}"/>
              </a:ext>
            </a:extLst>
          </p:cNvPr>
          <p:cNvCxnSpPr/>
          <p:nvPr/>
        </p:nvCxnSpPr>
        <p:spPr>
          <a:xfrm>
            <a:off x="533400" y="6477000"/>
            <a:ext cx="11099800" cy="0"/>
          </a:xfrm>
          <a:prstGeom prst="line">
            <a:avLst/>
          </a:prstGeom>
          <a:ln w="12700">
            <a:solidFill>
              <a:srgbClr val="D8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9408A4D-E869-73B9-DF98-81A2610CB10F}"/>
              </a:ext>
            </a:extLst>
          </p:cNvPr>
          <p:cNvSpPr txBox="1"/>
          <p:nvPr/>
        </p:nvSpPr>
        <p:spPr>
          <a:xfrm>
            <a:off x="533400" y="6527800"/>
            <a:ext cx="4445000" cy="28469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850">
                <a:solidFill>
                  <a:srgbClr val="5D6D69"/>
                </a:solidFill>
                <a:latin typeface="Malgun Gothic" panose="020B0503020000020004" pitchFamily="50" charset="-127"/>
              </a:rPr>
              <a:t>Portfolio generated from seob31.github.io</a:t>
            </a:r>
            <a:endParaRPr lang="ko-KR" altLang="en-US" sz="85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3511C1-1717-0EFE-F895-E5D0A8E2B8D8}"/>
              </a:ext>
            </a:extLst>
          </p:cNvPr>
          <p:cNvSpPr txBox="1"/>
          <p:nvPr/>
        </p:nvSpPr>
        <p:spPr>
          <a:xfrm>
            <a:off x="11176000" y="6527800"/>
            <a:ext cx="457200" cy="28469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pPr algn="r"/>
            <a:r>
              <a:rPr lang="en-US" altLang="ko-KR" sz="850">
                <a:solidFill>
                  <a:srgbClr val="5D6D69"/>
                </a:solidFill>
                <a:latin typeface="Malgun Gothic" panose="020B0503020000020004" pitchFamily="50" charset="-127"/>
              </a:rPr>
              <a:t>7</a:t>
            </a:r>
            <a:endParaRPr lang="ko-KR" altLang="en-US" sz="85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1711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52C71-F88A-71E3-79CD-571886A69BE0}"/>
              </a:ext>
            </a:extLst>
          </p:cNvPr>
          <p:cNvSpPr txBox="1"/>
          <p:nvPr/>
        </p:nvSpPr>
        <p:spPr>
          <a:xfrm>
            <a:off x="533400" y="304800"/>
            <a:ext cx="7874000" cy="892552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Molida | Java / Spring Backend · DB </a:t>
            </a:r>
            <a:r>
              <a:rPr lang="ko-KR" altLang="en-US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처리 </a:t>
            </a:r>
            <a:r>
              <a:rPr lang="en-US" altLang="ko-KR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운영 안정화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B9EA12-971B-C06A-B421-2C40AF8D92D0}"/>
              </a:ext>
            </a:extLst>
          </p:cNvPr>
          <p:cNvSpPr txBox="1"/>
          <p:nvPr/>
        </p:nvSpPr>
        <p:spPr>
          <a:xfrm>
            <a:off x="558800" y="736600"/>
            <a:ext cx="7112000" cy="315471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2019.11 ~ 2022.01 ·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시스템 설계 </a:t>
            </a:r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서버 운영 </a:t>
            </a:r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인증</a:t>
            </a:r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발급 로직 </a:t>
            </a:r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보안 대응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E1AF8D3-88B1-BC5F-537A-C353167E8903}"/>
              </a:ext>
            </a:extLst>
          </p:cNvPr>
          <p:cNvCxnSpPr/>
          <p:nvPr/>
        </p:nvCxnSpPr>
        <p:spPr>
          <a:xfrm>
            <a:off x="533400" y="1092200"/>
            <a:ext cx="11099800" cy="0"/>
          </a:xfrm>
          <a:prstGeom prst="line">
            <a:avLst/>
          </a:prstGeom>
          <a:ln w="17780">
            <a:solidFill>
              <a:srgbClr val="D8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BFEFEE7-B98F-15D9-B89C-CC356D5176F6}"/>
              </a:ext>
            </a:extLst>
          </p:cNvPr>
          <p:cNvSpPr txBox="1"/>
          <p:nvPr/>
        </p:nvSpPr>
        <p:spPr>
          <a:xfrm>
            <a:off x="533400" y="1320800"/>
            <a:ext cx="5181600" cy="35394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300" b="1">
                <a:solidFill>
                  <a:srgbClr val="17352E"/>
                </a:solidFill>
                <a:latin typeface="Malgun Gothic" panose="020B0503020000020004" pitchFamily="50" charset="-127"/>
              </a:rPr>
              <a:t>Overview</a:t>
            </a:r>
            <a:endParaRPr lang="ko-KR" altLang="en-US" sz="13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BA1535-0F0A-D94B-2625-04F29F2AC504}"/>
              </a:ext>
            </a:extLst>
          </p:cNvPr>
          <p:cNvSpPr txBox="1"/>
          <p:nvPr/>
        </p:nvSpPr>
        <p:spPr>
          <a:xfrm>
            <a:off x="533400" y="1600200"/>
            <a:ext cx="5181600" cy="67095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교육 이력과 자격증 정보를 관리하고 증명서 발급과 기관용 제작까지 지원하는 블록체인 기반 서비스입니다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사용자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기관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운영자 페이지를 포함한 전체 서비스 흐름을 넓게 다뤘습니다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12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43BCD1-30E9-0912-7956-BEEA84F1E136}"/>
              </a:ext>
            </a:extLst>
          </p:cNvPr>
          <p:cNvSpPr txBox="1"/>
          <p:nvPr/>
        </p:nvSpPr>
        <p:spPr>
          <a:xfrm>
            <a:off x="533400" y="2616200"/>
            <a:ext cx="5181600" cy="35394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300" b="1">
                <a:solidFill>
                  <a:srgbClr val="17352E"/>
                </a:solidFill>
                <a:latin typeface="Malgun Gothic" panose="020B0503020000020004" pitchFamily="50" charset="-127"/>
              </a:rPr>
              <a:t>Role</a:t>
            </a:r>
            <a:endParaRPr lang="ko-KR" altLang="en-US" sz="13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305CDD-A439-DE68-F34A-24E2B354B0BD}"/>
              </a:ext>
            </a:extLst>
          </p:cNvPr>
          <p:cNvSpPr txBox="1"/>
          <p:nvPr/>
        </p:nvSpPr>
        <p:spPr>
          <a:xfrm>
            <a:off x="533400" y="2895600"/>
            <a:ext cx="5181600" cy="67095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학습이력 관리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자동 등록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증명서 생성과 검증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본인 인증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게시판과 회원 기능 등 핵심 백엔드와 프론트엔드를 함께 개발했습니다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 DB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처리와 구조 이해를 바탕으로 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IDC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서버 운영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배포 자동화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보안 취약점 대응도 수행했습니다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12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F3AC8B-654F-4712-3C24-E7EAC2E28D5A}"/>
              </a:ext>
            </a:extLst>
          </p:cNvPr>
          <p:cNvSpPr txBox="1"/>
          <p:nvPr/>
        </p:nvSpPr>
        <p:spPr>
          <a:xfrm>
            <a:off x="533400" y="3911600"/>
            <a:ext cx="5181600" cy="35394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300" b="1">
                <a:solidFill>
                  <a:srgbClr val="17352E"/>
                </a:solidFill>
                <a:latin typeface="Malgun Gothic" panose="020B0503020000020004" pitchFamily="50" charset="-127"/>
              </a:rPr>
              <a:t>Additional</a:t>
            </a:r>
            <a:endParaRPr lang="ko-KR" altLang="en-US" sz="13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8C61FA-5313-6778-D4CB-555E1D7D6A3E}"/>
              </a:ext>
            </a:extLst>
          </p:cNvPr>
          <p:cNvSpPr txBox="1"/>
          <p:nvPr/>
        </p:nvSpPr>
        <p:spPr>
          <a:xfrm>
            <a:off x="533400" y="4191000"/>
            <a:ext cx="5181600" cy="67095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증명서 직접 제작 기능을 프론트엔드와 백엔드 모두 자체 개발해 외부 라이브러리 의존성을 줄였고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발급과 검증 흐름을 서비스 안에서 안정적으로 통합할 수 있도록 구조를 정리했습니다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12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C5A657-B4E2-D9DF-C0FB-9B03A773C9C0}"/>
              </a:ext>
            </a:extLst>
          </p:cNvPr>
          <p:cNvSpPr/>
          <p:nvPr/>
        </p:nvSpPr>
        <p:spPr>
          <a:xfrm>
            <a:off x="6172200" y="1422400"/>
            <a:ext cx="5384800" cy="10414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47B787-03E9-E352-BA2B-9BA246F96F68}"/>
              </a:ext>
            </a:extLst>
          </p:cNvPr>
          <p:cNvSpPr txBox="1"/>
          <p:nvPr/>
        </p:nvSpPr>
        <p:spPr>
          <a:xfrm>
            <a:off x="6426200" y="1701800"/>
            <a:ext cx="4876800" cy="646331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600" b="1">
                <a:solidFill>
                  <a:srgbClr val="17352E"/>
                </a:solidFill>
                <a:latin typeface="Malgun Gothic" panose="020B0503020000020004" pitchFamily="50" charset="-127"/>
              </a:rPr>
              <a:t>핵심 역량
</a:t>
            </a:r>
            <a:r>
              <a:rPr lang="en-US" altLang="ko-KR" sz="1600" b="1">
                <a:solidFill>
                  <a:srgbClr val="17352E"/>
                </a:solidFill>
                <a:latin typeface="Malgun Gothic" panose="020B0503020000020004" pitchFamily="50" charset="-127"/>
              </a:rPr>
              <a:t>Java / Spring Backend · DB </a:t>
            </a:r>
            <a:r>
              <a:rPr lang="ko-KR" altLang="en-US" sz="1600" b="1">
                <a:solidFill>
                  <a:srgbClr val="17352E"/>
                </a:solidFill>
                <a:latin typeface="Malgun Gothic" panose="020B0503020000020004" pitchFamily="50" charset="-127"/>
              </a:rPr>
              <a:t>처리 </a:t>
            </a:r>
            <a:r>
              <a:rPr lang="en-US" altLang="ko-KR" sz="1600" b="1">
                <a:solidFill>
                  <a:srgbClr val="17352E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600" b="1">
                <a:solidFill>
                  <a:srgbClr val="17352E"/>
                </a:solidFill>
                <a:latin typeface="Malgun Gothic" panose="020B0503020000020004" pitchFamily="50" charset="-127"/>
              </a:rPr>
              <a:t>인증</a:t>
            </a:r>
            <a:r>
              <a:rPr lang="en-US" altLang="ko-KR" sz="1600" b="1">
                <a:solidFill>
                  <a:srgbClr val="17352E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600" b="1">
                <a:solidFill>
                  <a:srgbClr val="17352E"/>
                </a:solidFill>
                <a:latin typeface="Malgun Gothic" panose="020B0503020000020004" pitchFamily="50" charset="-127"/>
              </a:rPr>
              <a:t>발급 로직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4F2AE12-8FAC-4951-8E4B-3D4CD68C549F}"/>
              </a:ext>
            </a:extLst>
          </p:cNvPr>
          <p:cNvSpPr/>
          <p:nvPr/>
        </p:nvSpPr>
        <p:spPr>
          <a:xfrm>
            <a:off x="6172200" y="2717800"/>
            <a:ext cx="1676400" cy="14732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4E53A0-BAAE-9385-573B-A9AD4B8449EC}"/>
              </a:ext>
            </a:extLst>
          </p:cNvPr>
          <p:cNvSpPr txBox="1"/>
          <p:nvPr/>
        </p:nvSpPr>
        <p:spPr>
          <a:xfrm>
            <a:off x="6350000" y="3124200"/>
            <a:ext cx="1320800" cy="584775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학습이력
자동 등록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9B81F61-6B69-5B98-43CF-56E3EA48456A}"/>
              </a:ext>
            </a:extLst>
          </p:cNvPr>
          <p:cNvSpPr/>
          <p:nvPr/>
        </p:nvSpPr>
        <p:spPr>
          <a:xfrm>
            <a:off x="8026400" y="2717800"/>
            <a:ext cx="1676400" cy="14732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083850-A0B9-3FF1-F7E0-F9B9AEF988F6}"/>
              </a:ext>
            </a:extLst>
          </p:cNvPr>
          <p:cNvSpPr txBox="1"/>
          <p:nvPr/>
        </p:nvSpPr>
        <p:spPr>
          <a:xfrm>
            <a:off x="8204200" y="3124200"/>
            <a:ext cx="1320800" cy="584775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증명서 생성
검증 로직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B520A71-2021-2AF2-AEB4-DDD0C2671994}"/>
              </a:ext>
            </a:extLst>
          </p:cNvPr>
          <p:cNvSpPr/>
          <p:nvPr/>
        </p:nvSpPr>
        <p:spPr>
          <a:xfrm>
            <a:off x="9880600" y="2717800"/>
            <a:ext cx="1676400" cy="14732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340C46-2980-4085-F84E-6D992055EB78}"/>
              </a:ext>
            </a:extLst>
          </p:cNvPr>
          <p:cNvSpPr txBox="1"/>
          <p:nvPr/>
        </p:nvSpPr>
        <p:spPr>
          <a:xfrm>
            <a:off x="10058400" y="3124200"/>
            <a:ext cx="1320800" cy="584775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17352E"/>
                </a:solidFill>
                <a:latin typeface="Malgun Gothic" panose="020B0503020000020004" pitchFamily="50" charset="-127"/>
              </a:rPr>
              <a:t>서버 운영
보안 대응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6116AA9-1BAB-4304-C7BA-76E5891E6909}"/>
              </a:ext>
            </a:extLst>
          </p:cNvPr>
          <p:cNvSpPr/>
          <p:nvPr/>
        </p:nvSpPr>
        <p:spPr>
          <a:xfrm>
            <a:off x="6172200" y="4445000"/>
            <a:ext cx="5384800" cy="9398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E0A69F-ADFF-B05C-1EA3-CD184A200D0B}"/>
              </a:ext>
            </a:extLst>
          </p:cNvPr>
          <p:cNvSpPr txBox="1"/>
          <p:nvPr/>
        </p:nvSpPr>
        <p:spPr>
          <a:xfrm>
            <a:off x="6400800" y="4724400"/>
            <a:ext cx="4927600" cy="584775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400">
                <a:solidFill>
                  <a:srgbClr val="5D6D69"/>
                </a:solidFill>
                <a:latin typeface="Malgun Gothic" panose="020B0503020000020004" pitchFamily="50" charset="-127"/>
              </a:rPr>
              <a:t>운영자</a:t>
            </a:r>
            <a:r>
              <a:rPr lang="en-US" altLang="ko-KR" sz="1400">
                <a:solidFill>
                  <a:srgbClr val="5D6D6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400">
                <a:solidFill>
                  <a:srgbClr val="5D6D69"/>
                </a:solidFill>
                <a:latin typeface="Malgun Gothic" panose="020B0503020000020004" pitchFamily="50" charset="-127"/>
              </a:rPr>
              <a:t>기관</a:t>
            </a:r>
            <a:r>
              <a:rPr lang="en-US" altLang="ko-KR" sz="1400">
                <a:solidFill>
                  <a:srgbClr val="5D6D6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400">
                <a:solidFill>
                  <a:srgbClr val="5D6D69"/>
                </a:solidFill>
                <a:latin typeface="Malgun Gothic" panose="020B0503020000020004" pitchFamily="50" charset="-127"/>
              </a:rPr>
              <a:t>사용자 흐름을 전체적으로 다루며 서비스 운영 안정화까지 함께 수행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6C60140-C77B-743A-1B99-45B01722BC3E}"/>
              </a:ext>
            </a:extLst>
          </p:cNvPr>
          <p:cNvCxnSpPr/>
          <p:nvPr/>
        </p:nvCxnSpPr>
        <p:spPr>
          <a:xfrm>
            <a:off x="533400" y="6477000"/>
            <a:ext cx="11099800" cy="0"/>
          </a:xfrm>
          <a:prstGeom prst="line">
            <a:avLst/>
          </a:prstGeom>
          <a:ln w="12700">
            <a:solidFill>
              <a:srgbClr val="D8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784FA47-C108-5CA1-EC85-57FFA7067792}"/>
              </a:ext>
            </a:extLst>
          </p:cNvPr>
          <p:cNvSpPr txBox="1"/>
          <p:nvPr/>
        </p:nvSpPr>
        <p:spPr>
          <a:xfrm>
            <a:off x="533400" y="6527800"/>
            <a:ext cx="4445000" cy="28469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850">
                <a:solidFill>
                  <a:srgbClr val="5D6D69"/>
                </a:solidFill>
                <a:latin typeface="Malgun Gothic" panose="020B0503020000020004" pitchFamily="50" charset="-127"/>
              </a:rPr>
              <a:t>Portfolio generated from seob31.github.io</a:t>
            </a:r>
            <a:endParaRPr lang="ko-KR" altLang="en-US" sz="85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7AB96D-E21D-CCCE-F0F1-EFC9E953E877}"/>
              </a:ext>
            </a:extLst>
          </p:cNvPr>
          <p:cNvSpPr txBox="1"/>
          <p:nvPr/>
        </p:nvSpPr>
        <p:spPr>
          <a:xfrm>
            <a:off x="11176000" y="6527800"/>
            <a:ext cx="457200" cy="28469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pPr algn="r"/>
            <a:r>
              <a:rPr lang="en-US" altLang="ko-KR" sz="850">
                <a:solidFill>
                  <a:srgbClr val="5D6D69"/>
                </a:solidFill>
                <a:latin typeface="Malgun Gothic" panose="020B0503020000020004" pitchFamily="50" charset="-127"/>
              </a:rPr>
              <a:t>8</a:t>
            </a:r>
            <a:endParaRPr lang="ko-KR" altLang="en-US" sz="85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7276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08B8C9-9916-8E0C-3613-AFB394D017CA}"/>
              </a:ext>
            </a:extLst>
          </p:cNvPr>
          <p:cNvSpPr txBox="1"/>
          <p:nvPr/>
        </p:nvSpPr>
        <p:spPr>
          <a:xfrm>
            <a:off x="533400" y="304800"/>
            <a:ext cx="7874000" cy="523220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철도 </a:t>
            </a:r>
            <a:r>
              <a:rPr lang="en-US" altLang="ko-KR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POS </a:t>
            </a:r>
            <a:r>
              <a:rPr lang="ko-KR" altLang="en-US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결제 시스템 </a:t>
            </a:r>
            <a:r>
              <a:rPr lang="en-US" altLang="ko-KR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철도 </a:t>
            </a:r>
            <a:r>
              <a:rPr lang="en-US" altLang="ko-KR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IC </a:t>
            </a:r>
            <a:r>
              <a:rPr lang="ko-KR" altLang="en-US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라이브러리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883A57-C09B-5F8F-725D-FFCE8C67F558}"/>
              </a:ext>
            </a:extLst>
          </p:cNvPr>
          <p:cNvSpPr txBox="1"/>
          <p:nvPr/>
        </p:nvSpPr>
        <p:spPr>
          <a:xfrm>
            <a:off x="558800" y="736600"/>
            <a:ext cx="7112000" cy="315471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Java Backend ·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결제 프로세스 </a:t>
            </a:r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데이터 처리 </a:t>
            </a:r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· Trouble Shooting</a:t>
            </a:r>
            <a:endParaRPr lang="ko-KR" altLang="en-US" sz="1050">
              <a:solidFill>
                <a:srgbClr val="1F7A63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EE7FC8D-1050-6309-D195-98BDB55C582B}"/>
              </a:ext>
            </a:extLst>
          </p:cNvPr>
          <p:cNvCxnSpPr/>
          <p:nvPr/>
        </p:nvCxnSpPr>
        <p:spPr>
          <a:xfrm>
            <a:off x="533400" y="1092200"/>
            <a:ext cx="11099800" cy="0"/>
          </a:xfrm>
          <a:prstGeom prst="line">
            <a:avLst/>
          </a:prstGeom>
          <a:ln w="17780">
            <a:solidFill>
              <a:srgbClr val="D8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8D5EF0-C238-D216-52BF-1410628FA33D}"/>
              </a:ext>
            </a:extLst>
          </p:cNvPr>
          <p:cNvSpPr/>
          <p:nvPr/>
        </p:nvSpPr>
        <p:spPr>
          <a:xfrm>
            <a:off x="533400" y="1371600"/>
            <a:ext cx="5334000" cy="41910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058DCE-3A95-4DF4-645E-BB92E6F7BFF0}"/>
              </a:ext>
            </a:extLst>
          </p:cNvPr>
          <p:cNvSpPr txBox="1"/>
          <p:nvPr/>
        </p:nvSpPr>
        <p:spPr>
          <a:xfrm>
            <a:off x="711200" y="1549400"/>
            <a:ext cx="3810000" cy="384721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철도 </a:t>
            </a:r>
            <a:r>
              <a:rPr lang="en-US" altLang="ko-KR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POS </a:t>
            </a:r>
            <a:r>
              <a:rPr lang="ko-KR" altLang="en-US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결제 시스템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208496-DE14-3A16-9E22-028DBF1E8C37}"/>
              </a:ext>
            </a:extLst>
          </p:cNvPr>
          <p:cNvSpPr txBox="1"/>
          <p:nvPr/>
        </p:nvSpPr>
        <p:spPr>
          <a:xfrm>
            <a:off x="711200" y="1879600"/>
            <a:ext cx="4978400" cy="843308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철도 시스템의 핵심 결제 인프라 프로젝트에서 신규 단말기 프로세스를 개발하고 설계서 보수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개발 문서 작성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고객사 요구사항 반영을 수행했습니다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실제 결제 흐름과 운영 이슈를 함께 보며 백엔드 프로세스 안정화에 집중했습니다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12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F78613E-CD75-5CEE-5D5F-FB0B56828A1B}"/>
              </a:ext>
            </a:extLst>
          </p:cNvPr>
          <p:cNvSpPr/>
          <p:nvPr/>
        </p:nvSpPr>
        <p:spPr>
          <a:xfrm>
            <a:off x="1727200" y="3911600"/>
            <a:ext cx="2921000" cy="10668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A7A73D-3B80-0EFF-A24F-3267F8A72042}"/>
              </a:ext>
            </a:extLst>
          </p:cNvPr>
          <p:cNvSpPr txBox="1"/>
          <p:nvPr/>
        </p:nvSpPr>
        <p:spPr>
          <a:xfrm>
            <a:off x="1930400" y="4191000"/>
            <a:ext cx="2514600" cy="569387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350" b="1">
                <a:solidFill>
                  <a:srgbClr val="17352E"/>
                </a:solidFill>
                <a:latin typeface="Malgun Gothic" panose="020B0503020000020004" pitchFamily="50" charset="-127"/>
              </a:rPr>
              <a:t>신규 단말기 프로세스 개발
고객사 요구사항 반영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0BD8175-BCB4-284A-6185-D469B5FB17C5}"/>
              </a:ext>
            </a:extLst>
          </p:cNvPr>
          <p:cNvSpPr/>
          <p:nvPr/>
        </p:nvSpPr>
        <p:spPr>
          <a:xfrm>
            <a:off x="6273800" y="1371600"/>
            <a:ext cx="5359400" cy="41910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87CA70-D65D-D2C8-FAC8-AA3EC142FEA3}"/>
              </a:ext>
            </a:extLst>
          </p:cNvPr>
          <p:cNvSpPr txBox="1"/>
          <p:nvPr/>
        </p:nvSpPr>
        <p:spPr>
          <a:xfrm>
            <a:off x="6451600" y="1549400"/>
            <a:ext cx="3810000" cy="384721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철도 </a:t>
            </a:r>
            <a:r>
              <a:rPr lang="en-US" altLang="ko-KR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IC </a:t>
            </a:r>
            <a:r>
              <a:rPr lang="ko-KR" altLang="en-US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라이브러리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DDDF4F-79EF-EF2E-AD26-DFFB6A1DCB5F}"/>
              </a:ext>
            </a:extLst>
          </p:cNvPr>
          <p:cNvSpPr txBox="1"/>
          <p:nvPr/>
        </p:nvSpPr>
        <p:spPr>
          <a:xfrm>
            <a:off x="6451600" y="1879600"/>
            <a:ext cx="4978400" cy="843308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IC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카드 데이터 처리 라이브러리 개발 프로젝트로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데이터 수집 구조 개선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Perl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기반 로그 수집 기능 개선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JUnit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테스트 코드 작성까지 수행했습니다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 DB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처리와 데이터 구조 이해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로그 기반 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Trouble Shooting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역량이 드러나는 작업이었습니다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12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A8187FF-4F5E-CDF7-0ED4-723C37FDAE60}"/>
              </a:ext>
            </a:extLst>
          </p:cNvPr>
          <p:cNvSpPr/>
          <p:nvPr/>
        </p:nvSpPr>
        <p:spPr>
          <a:xfrm>
            <a:off x="7518400" y="4089400"/>
            <a:ext cx="2794000" cy="9144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8D1D0F-08BE-1954-99C1-E6F2517218F8}"/>
              </a:ext>
            </a:extLst>
          </p:cNvPr>
          <p:cNvSpPr txBox="1"/>
          <p:nvPr/>
        </p:nvSpPr>
        <p:spPr>
          <a:xfrm>
            <a:off x="7721600" y="4318000"/>
            <a:ext cx="2387600" cy="569387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350" b="1">
                <a:solidFill>
                  <a:srgbClr val="17352E"/>
                </a:solidFill>
                <a:latin typeface="Malgun Gothic" panose="020B0503020000020004" pitchFamily="50" charset="-127"/>
              </a:rPr>
              <a:t>로그 수집 개선 </a:t>
            </a:r>
            <a:r>
              <a:rPr lang="en-US" altLang="ko-KR" sz="1350" b="1">
                <a:solidFill>
                  <a:srgbClr val="17352E"/>
                </a:solidFill>
                <a:latin typeface="Malgun Gothic" panose="020B0503020000020004" pitchFamily="50" charset="-127"/>
              </a:rPr>
              <a:t>· JUnit </a:t>
            </a:r>
            <a:r>
              <a:rPr lang="ko-KR" altLang="en-US" sz="1350" b="1">
                <a:solidFill>
                  <a:srgbClr val="17352E"/>
                </a:solidFill>
                <a:latin typeface="Malgun Gothic" panose="020B0503020000020004" pitchFamily="50" charset="-127"/>
              </a:rPr>
              <a:t>테스트 </a:t>
            </a:r>
            <a:r>
              <a:rPr lang="en-US" altLang="ko-KR" sz="1350" b="1">
                <a:solidFill>
                  <a:srgbClr val="17352E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350" b="1">
                <a:solidFill>
                  <a:srgbClr val="17352E"/>
                </a:solidFill>
                <a:latin typeface="Malgun Gothic" panose="020B0503020000020004" pitchFamily="50" charset="-127"/>
              </a:rPr>
              <a:t>데이터 구조 개선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4689102-C0D9-F912-499C-75A5B44C24EF}"/>
              </a:ext>
            </a:extLst>
          </p:cNvPr>
          <p:cNvCxnSpPr/>
          <p:nvPr/>
        </p:nvCxnSpPr>
        <p:spPr>
          <a:xfrm>
            <a:off x="533400" y="6477000"/>
            <a:ext cx="11099800" cy="0"/>
          </a:xfrm>
          <a:prstGeom prst="line">
            <a:avLst/>
          </a:prstGeom>
          <a:ln w="12700">
            <a:solidFill>
              <a:srgbClr val="D8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B4E3EAA-238D-35BC-E9CC-DEE4DC4CF8B2}"/>
              </a:ext>
            </a:extLst>
          </p:cNvPr>
          <p:cNvSpPr txBox="1"/>
          <p:nvPr/>
        </p:nvSpPr>
        <p:spPr>
          <a:xfrm>
            <a:off x="533400" y="6527800"/>
            <a:ext cx="4445000" cy="28469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850">
                <a:solidFill>
                  <a:srgbClr val="5D6D69"/>
                </a:solidFill>
                <a:latin typeface="Malgun Gothic" panose="020B0503020000020004" pitchFamily="50" charset="-127"/>
              </a:rPr>
              <a:t>Portfolio generated from seob31.github.io</a:t>
            </a:r>
            <a:endParaRPr lang="ko-KR" altLang="en-US" sz="85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64B386-176A-1D9C-A399-F956C806A052}"/>
              </a:ext>
            </a:extLst>
          </p:cNvPr>
          <p:cNvSpPr txBox="1"/>
          <p:nvPr/>
        </p:nvSpPr>
        <p:spPr>
          <a:xfrm>
            <a:off x="11176000" y="6527800"/>
            <a:ext cx="457200" cy="28469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pPr algn="r"/>
            <a:r>
              <a:rPr lang="en-US" altLang="ko-KR" sz="850">
                <a:solidFill>
                  <a:srgbClr val="5D6D69"/>
                </a:solidFill>
                <a:latin typeface="Malgun Gothic" panose="020B0503020000020004" pitchFamily="50" charset="-127"/>
              </a:rPr>
              <a:t>9</a:t>
            </a:r>
            <a:endParaRPr lang="ko-KR" altLang="en-US" sz="85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103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D81DB1-56EE-95B0-6B6A-4AD03D81A3BA}"/>
              </a:ext>
            </a:extLst>
          </p:cNvPr>
          <p:cNvSpPr txBox="1"/>
          <p:nvPr/>
        </p:nvSpPr>
        <p:spPr>
          <a:xfrm>
            <a:off x="533400" y="304800"/>
            <a:ext cx="7874000" cy="523220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제조 </a:t>
            </a:r>
            <a:r>
              <a:rPr lang="en-US" altLang="ko-KR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QA / </a:t>
            </a:r>
            <a:r>
              <a:rPr lang="ko-KR" altLang="en-US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초기 프로젝트 </a:t>
            </a:r>
            <a:r>
              <a:rPr lang="en-US" altLang="ko-KR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2400" b="1">
                <a:solidFill>
                  <a:srgbClr val="17352E"/>
                </a:solidFill>
                <a:latin typeface="Malgun Gothic" panose="020B0503020000020004" pitchFamily="50" charset="-127"/>
              </a:rPr>
              <a:t>마무리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C621AA-5ED7-C8D6-AE52-E0501AB60065}"/>
              </a:ext>
            </a:extLst>
          </p:cNvPr>
          <p:cNvSpPr txBox="1"/>
          <p:nvPr/>
        </p:nvSpPr>
        <p:spPr>
          <a:xfrm>
            <a:off x="558800" y="736600"/>
            <a:ext cx="7112000" cy="315471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QA ·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시나리오 검증 </a:t>
            </a:r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· DB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이해 </a:t>
            </a:r>
            <a:r>
              <a:rPr lang="en-US" altLang="ko-KR" sz="1050">
                <a:solidFill>
                  <a:srgbClr val="1F7A63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1F7A63"/>
                </a:solidFill>
                <a:latin typeface="Malgun Gothic" panose="020B0503020000020004" pitchFamily="50" charset="-127"/>
              </a:rPr>
              <a:t>서비스 품질 관점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3795AEA-65F2-F152-5E61-0137056C705F}"/>
              </a:ext>
            </a:extLst>
          </p:cNvPr>
          <p:cNvCxnSpPr/>
          <p:nvPr/>
        </p:nvCxnSpPr>
        <p:spPr>
          <a:xfrm>
            <a:off x="533400" y="1092200"/>
            <a:ext cx="11099800" cy="0"/>
          </a:xfrm>
          <a:prstGeom prst="line">
            <a:avLst/>
          </a:prstGeom>
          <a:ln w="17780">
            <a:solidFill>
              <a:srgbClr val="D8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60337B3C-B3D2-61D6-B44B-B452634F63C1}"/>
              </a:ext>
            </a:extLst>
          </p:cNvPr>
          <p:cNvSpPr/>
          <p:nvPr/>
        </p:nvSpPr>
        <p:spPr>
          <a:xfrm>
            <a:off x="533400" y="1371600"/>
            <a:ext cx="5334000" cy="23622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619A3C-1FE8-4EB3-E87F-C9F64C12CB91}"/>
              </a:ext>
            </a:extLst>
          </p:cNvPr>
          <p:cNvSpPr txBox="1"/>
          <p:nvPr/>
        </p:nvSpPr>
        <p:spPr>
          <a:xfrm>
            <a:off x="711200" y="1549400"/>
            <a:ext cx="3429000" cy="384721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제조 </a:t>
            </a:r>
            <a:r>
              <a:rPr lang="en-US" altLang="ko-KR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QA</a:t>
            </a:r>
            <a:endParaRPr lang="ko-KR" altLang="en-US" sz="15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B90D17-E93E-AF4A-F7E5-0C479FAC259D}"/>
              </a:ext>
            </a:extLst>
          </p:cNvPr>
          <p:cNvSpPr txBox="1"/>
          <p:nvPr/>
        </p:nvSpPr>
        <p:spPr>
          <a:xfrm>
            <a:off x="711200" y="1879600"/>
            <a:ext cx="4978400" cy="843308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제조 시스템 프로젝트에서 기능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시나리오 테스트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배치 테스트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테스트 사양서 작성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에비던스 리뷰를 수행했습니다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고객사 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QA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조직 내 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Group 1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리드 역할을 맡으며 서비스 품질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DB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흐름 이해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운영 관점 검증 경험을 쌓았습니다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12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024775-EEF5-34A2-A287-61AF38DC4804}"/>
              </a:ext>
            </a:extLst>
          </p:cNvPr>
          <p:cNvSpPr/>
          <p:nvPr/>
        </p:nvSpPr>
        <p:spPr>
          <a:xfrm>
            <a:off x="533400" y="3987800"/>
            <a:ext cx="5334000" cy="15748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4B6ED3-82D6-F0BA-DDD4-D515586EFF8E}"/>
              </a:ext>
            </a:extLst>
          </p:cNvPr>
          <p:cNvSpPr txBox="1"/>
          <p:nvPr/>
        </p:nvSpPr>
        <p:spPr>
          <a:xfrm>
            <a:off x="711200" y="4165600"/>
            <a:ext cx="3429000" cy="384721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E-</a:t>
            </a:r>
            <a:r>
              <a:rPr lang="ko-KR" altLang="en-US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러닝 시스템 </a:t>
            </a:r>
            <a:r>
              <a:rPr lang="en-US" altLang="ko-KR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게임화 학습 플랫폼</a:t>
            </a:r>
            <a:r>
              <a:rPr lang="en-US" altLang="ko-KR" sz="1500" b="1">
                <a:solidFill>
                  <a:srgbClr val="17352E"/>
                </a:solidFill>
                <a:latin typeface="Malgun Gothic" panose="020B0503020000020004" pitchFamily="50" charset="-127"/>
              </a:rPr>
              <a:t>)</a:t>
            </a:r>
            <a:endParaRPr lang="ko-KR" altLang="en-US" sz="15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E0C3CD-11E9-F8D9-EB56-BBFF880A0F65}"/>
              </a:ext>
            </a:extLst>
          </p:cNvPr>
          <p:cNvSpPr txBox="1"/>
          <p:nvPr/>
        </p:nvSpPr>
        <p:spPr>
          <a:xfrm>
            <a:off x="711200" y="4495800"/>
            <a:ext cx="4978400" cy="498598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프로젝트 초기 단계에서 화면 설계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ERD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수정과 데이터베이스 정규화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반응형 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UI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구현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, RESTful API </a:t>
            </a:r>
            <a:r>
              <a:rPr lang="ko-KR" altLang="en-US" sz="1120">
                <a:solidFill>
                  <a:srgbClr val="5D6D69"/>
                </a:solidFill>
                <a:latin typeface="Malgun Gothic" panose="020B0503020000020004" pitchFamily="50" charset="-127"/>
              </a:rPr>
              <a:t>개발을 맡아 서비스 초기 구조를 정리했습니다</a:t>
            </a:r>
            <a:r>
              <a:rPr lang="en-US" altLang="ko-KR" sz="1120">
                <a:solidFill>
                  <a:srgbClr val="5D6D69"/>
                </a:solidFill>
                <a:latin typeface="Malgun Gothic" panose="020B0503020000020004" pitchFamily="50" charset="-127"/>
              </a:rPr>
              <a:t>.</a:t>
            </a:r>
            <a:endParaRPr lang="ko-KR" altLang="en-US" sz="112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089C76-2A3B-597A-9C40-B21CBEE47FFF}"/>
              </a:ext>
            </a:extLst>
          </p:cNvPr>
          <p:cNvSpPr/>
          <p:nvPr/>
        </p:nvSpPr>
        <p:spPr>
          <a:xfrm>
            <a:off x="6273800" y="1371600"/>
            <a:ext cx="5359400" cy="4191000"/>
          </a:xfrm>
          <a:prstGeom prst="rect">
            <a:avLst/>
          </a:prstGeom>
          <a:solidFill>
            <a:srgbClr val="F6FAF7"/>
          </a:solidFill>
          <a:ln w="12700">
            <a:solidFill>
              <a:srgbClr val="D8E5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2578B5-6FA7-1AD9-57FE-6FEA695BB759}"/>
              </a:ext>
            </a:extLst>
          </p:cNvPr>
          <p:cNvSpPr txBox="1"/>
          <p:nvPr/>
        </p:nvSpPr>
        <p:spPr>
          <a:xfrm>
            <a:off x="6477000" y="1676400"/>
            <a:ext cx="4749800" cy="430887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1700" b="1">
                <a:solidFill>
                  <a:srgbClr val="17352E"/>
                </a:solidFill>
                <a:latin typeface="Malgun Gothic" panose="020B0503020000020004" pitchFamily="50" charset="-127"/>
              </a:rPr>
              <a:t>What This Portfolio Shows</a:t>
            </a:r>
            <a:endParaRPr lang="ko-KR" altLang="en-US" sz="1700" b="1">
              <a:solidFill>
                <a:srgbClr val="17352E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C2FDA7-F3BC-C43A-E421-D27E72E369E2}"/>
              </a:ext>
            </a:extLst>
          </p:cNvPr>
          <p:cNvSpPr txBox="1"/>
          <p:nvPr/>
        </p:nvSpPr>
        <p:spPr>
          <a:xfrm>
            <a:off x="6477000" y="2184400"/>
            <a:ext cx="4749800" cy="2031325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ko-KR" altLang="en-US" sz="1220">
                <a:solidFill>
                  <a:srgbClr val="5D6D69"/>
                </a:solidFill>
                <a:latin typeface="Malgun Gothic" panose="020B0503020000020004" pitchFamily="50" charset="-127"/>
              </a:rPr>
              <a:t>이 포트폴리오의 핵심은 도메인명이 아니라 다음 역량입니다</a:t>
            </a:r>
            <a:r>
              <a:rPr lang="en-US" altLang="ko-KR" sz="1220">
                <a:solidFill>
                  <a:srgbClr val="5D6D69"/>
                </a:solidFill>
                <a:latin typeface="Malgun Gothic" panose="020B0503020000020004" pitchFamily="50" charset="-127"/>
              </a:rPr>
              <a:t>.
Java / Spring </a:t>
            </a:r>
            <a:r>
              <a:rPr lang="ko-KR" altLang="en-US" sz="1220">
                <a:solidFill>
                  <a:srgbClr val="5D6D69"/>
                </a:solidFill>
                <a:latin typeface="Malgun Gothic" panose="020B0503020000020004" pitchFamily="50" charset="-127"/>
              </a:rPr>
              <a:t>기반 </a:t>
            </a:r>
            <a:r>
              <a:rPr lang="en-US" altLang="ko-KR" sz="1220">
                <a:solidFill>
                  <a:srgbClr val="5D6D69"/>
                </a:solidFill>
                <a:latin typeface="Malgun Gothic" panose="020B0503020000020004" pitchFamily="50" charset="-127"/>
              </a:rPr>
              <a:t>Backend </a:t>
            </a:r>
            <a:r>
              <a:rPr lang="ko-KR" altLang="en-US" sz="1220">
                <a:solidFill>
                  <a:srgbClr val="5D6D69"/>
                </a:solidFill>
                <a:latin typeface="Malgun Gothic" panose="020B0503020000020004" pitchFamily="50" charset="-127"/>
              </a:rPr>
              <a:t>서버 개발
</a:t>
            </a:r>
            <a:r>
              <a:rPr lang="en-US" altLang="ko-KR" sz="1220">
                <a:solidFill>
                  <a:srgbClr val="5D6D69"/>
                </a:solidFill>
                <a:latin typeface="Malgun Gothic" panose="020B0503020000020004" pitchFamily="50" charset="-127"/>
              </a:rPr>
              <a:t>API </a:t>
            </a:r>
            <a:r>
              <a:rPr lang="ko-KR" altLang="en-US" sz="1220">
                <a:solidFill>
                  <a:srgbClr val="5D6D69"/>
                </a:solidFill>
                <a:latin typeface="Malgun Gothic" panose="020B0503020000020004" pitchFamily="50" charset="-127"/>
              </a:rPr>
              <a:t>연계
운영 안정화
모니터링 및 장애 대응
</a:t>
            </a:r>
            <a:r>
              <a:rPr lang="en-US" altLang="ko-KR" sz="1220">
                <a:solidFill>
                  <a:srgbClr val="5D6D69"/>
                </a:solidFill>
                <a:latin typeface="Malgun Gothic" panose="020B0503020000020004" pitchFamily="50" charset="-127"/>
              </a:rPr>
              <a:t>Linux / Docker / Jenkins
AWS
DB </a:t>
            </a:r>
            <a:r>
              <a:rPr lang="ko-KR" altLang="en-US" sz="1220">
                <a:solidFill>
                  <a:srgbClr val="5D6D69"/>
                </a:solidFill>
                <a:latin typeface="Malgun Gothic" panose="020B0503020000020004" pitchFamily="50" charset="-127"/>
              </a:rPr>
              <a:t>처리 및 구조 이해
</a:t>
            </a:r>
            <a:r>
              <a:rPr lang="en-US" altLang="ko-KR" sz="1220">
                <a:solidFill>
                  <a:srgbClr val="5D6D69"/>
                </a:solidFill>
                <a:latin typeface="Malgun Gothic" panose="020B0503020000020004" pitchFamily="50" charset="-127"/>
              </a:rPr>
              <a:t>Trouble Shooting</a:t>
            </a:r>
            <a:endParaRPr lang="ko-KR" altLang="en-US" sz="122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AC17FF-3925-9FE1-DC14-4B4C0E003E84}"/>
              </a:ext>
            </a:extLst>
          </p:cNvPr>
          <p:cNvSpPr txBox="1"/>
          <p:nvPr/>
        </p:nvSpPr>
        <p:spPr>
          <a:xfrm>
            <a:off x="6477000" y="5003800"/>
            <a:ext cx="4749800" cy="35394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1F7A63"/>
                </a:solidFill>
                <a:latin typeface="Malgun Gothic" panose="020B0503020000020004" pitchFamily="50" charset="-127"/>
              </a:rPr>
              <a:t>seob31.github.io</a:t>
            </a:r>
            <a:endParaRPr lang="ko-KR" altLang="en-US" sz="1300" b="1">
              <a:solidFill>
                <a:srgbClr val="1F7A63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74BE4DE-EDB9-39E2-B020-ABDFEDECF02A}"/>
              </a:ext>
            </a:extLst>
          </p:cNvPr>
          <p:cNvCxnSpPr/>
          <p:nvPr/>
        </p:nvCxnSpPr>
        <p:spPr>
          <a:xfrm>
            <a:off x="533400" y="6477000"/>
            <a:ext cx="11099800" cy="0"/>
          </a:xfrm>
          <a:prstGeom prst="line">
            <a:avLst/>
          </a:prstGeom>
          <a:ln w="12700">
            <a:solidFill>
              <a:srgbClr val="D8E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23EA7F2-BFB8-DFE9-2F2C-31E550780055}"/>
              </a:ext>
            </a:extLst>
          </p:cNvPr>
          <p:cNvSpPr txBox="1"/>
          <p:nvPr/>
        </p:nvSpPr>
        <p:spPr>
          <a:xfrm>
            <a:off x="533400" y="6527800"/>
            <a:ext cx="4445000" cy="28469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r>
              <a:rPr lang="en-US" altLang="ko-KR" sz="850">
                <a:solidFill>
                  <a:srgbClr val="5D6D69"/>
                </a:solidFill>
                <a:latin typeface="Malgun Gothic" panose="020B0503020000020004" pitchFamily="50" charset="-127"/>
              </a:rPr>
              <a:t>Portfolio generated from seob31.github.io</a:t>
            </a:r>
            <a:endParaRPr lang="ko-KR" altLang="en-US" sz="85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6B9451-2456-D842-4CA0-4863008066EE}"/>
              </a:ext>
            </a:extLst>
          </p:cNvPr>
          <p:cNvSpPr txBox="1"/>
          <p:nvPr/>
        </p:nvSpPr>
        <p:spPr>
          <a:xfrm>
            <a:off x="11176000" y="6527800"/>
            <a:ext cx="457200" cy="284693"/>
          </a:xfrm>
          <a:prstGeom prst="rect">
            <a:avLst/>
          </a:prstGeom>
          <a:noFill/>
        </p:spPr>
        <p:txBody>
          <a:bodyPr vert="horz" wrap="square" lIns="76200" tIns="76200" rIns="76200" bIns="76200" rtlCol="0">
            <a:spAutoFit/>
          </a:bodyPr>
          <a:lstStyle/>
          <a:p>
            <a:pPr algn="r"/>
            <a:r>
              <a:rPr lang="en-US" altLang="ko-KR" sz="850">
                <a:solidFill>
                  <a:srgbClr val="5D6D69"/>
                </a:solidFill>
                <a:latin typeface="Malgun Gothic" panose="020B0503020000020004" pitchFamily="50" charset="-127"/>
              </a:rPr>
              <a:t>10</a:t>
            </a:r>
            <a:endParaRPr lang="ko-KR" altLang="en-US" sz="850">
              <a:solidFill>
                <a:srgbClr val="5D6D69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6151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1581</Words>
  <Application>Microsoft Office PowerPoint</Application>
  <PresentationFormat>사용자 지정</PresentationFormat>
  <Paragraphs>117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GILSEOB KIM</dc:creator>
  <cp:lastModifiedBy>GILSEOB KIM</cp:lastModifiedBy>
  <cp:revision>1</cp:revision>
  <dcterms:created xsi:type="dcterms:W3CDTF">2026-04-01T16:32:51Z</dcterms:created>
  <dcterms:modified xsi:type="dcterms:W3CDTF">2026-04-01T16:32:51Z</dcterms:modified>
</cp:coreProperties>
</file>